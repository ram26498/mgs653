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4" r:id="rId1"/>
  </p:sldMasterIdLst>
  <p:sldIdLst>
    <p:sldId id="256" r:id="rId2"/>
    <p:sldId id="257" r:id="rId3"/>
    <p:sldId id="259" r:id="rId4"/>
    <p:sldId id="260" r:id="rId5"/>
    <p:sldId id="262" r:id="rId6"/>
    <p:sldId id="263" r:id="rId7"/>
    <p:sldId id="266" r:id="rId8"/>
    <p:sldId id="267" r:id="rId9"/>
    <p:sldId id="268" r:id="rId10"/>
    <p:sldId id="258" r:id="rId11"/>
    <p:sldId id="276" r:id="rId12"/>
    <p:sldId id="277" r:id="rId13"/>
    <p:sldId id="280" r:id="rId14"/>
    <p:sldId id="278" r:id="rId15"/>
    <p:sldId id="279" r:id="rId16"/>
    <p:sldId id="274" r:id="rId17"/>
    <p:sldId id="275" r:id="rId18"/>
    <p:sldId id="28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9390F7-081C-F449-BAD3-C585B1E708A9}" v="46" dt="2022-05-14T02:34:46.4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50"/>
  </p:normalViewPr>
  <p:slideViewPr>
    <p:cSldViewPr snapToGrid="0" snapToObjects="1">
      <p:cViewPr>
        <p:scale>
          <a:sx n="86" d="100"/>
          <a:sy n="86" d="100"/>
        </p:scale>
        <p:origin x="1592" y="9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solidFill>
                  <a:schemeClr val="tx1">
                    <a:alpha val="60000"/>
                  </a:schemeClr>
                </a:solidFill>
                <a:latin typeface="+mn-lt"/>
              </a:defRPr>
            </a:lvl1pPr>
          </a:lstStyle>
          <a:p>
            <a:fld id="{11A6662E-FAF4-44BC-88B5-85A7CBFB6D30}" type="datetime1">
              <a:rPr lang="en-US" smtClean="0"/>
              <a:pPr/>
              <a:t>5/13/22</a:t>
            </a:fld>
            <a:endParaRPr lang="en-US" dirty="0"/>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solidFill>
                  <a:schemeClr val="tx1">
                    <a:alpha val="60000"/>
                  </a:schemeClr>
                </a:solidFill>
                <a:latin typeface="+mn-lt"/>
              </a:defRPr>
            </a:lvl1pPr>
          </a:lstStyle>
          <a:p>
            <a:endParaRPr lang="en-US">
              <a:solidFill>
                <a:schemeClr val="tx1">
                  <a:alpha val="60000"/>
                </a:schemeClr>
              </a:solidFill>
            </a:endParaRPr>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solidFill>
                  <a:schemeClr val="tx1">
                    <a:alpha val="60000"/>
                  </a:schemeClr>
                </a:solidFill>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3498683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458694" y="365760"/>
            <a:ext cx="10895106" cy="132556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5/13/22</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24473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5/13/22</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649627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458694" y="365760"/>
            <a:ext cx="10895106" cy="132556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458695" y="1825625"/>
            <a:ext cx="556110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199" y="1825625"/>
            <a:ext cx="556110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5/13/22</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0657984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458694" y="365125"/>
            <a:ext cx="11274612"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465256" y="1752600"/>
            <a:ext cx="5532319" cy="82391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465256" y="2666999"/>
            <a:ext cx="5532319"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561106" cy="82391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561106"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5/13/22</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818204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458694" y="365760"/>
            <a:ext cx="11274612"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a:xfrm>
            <a:off x="458693" y="6416675"/>
            <a:ext cx="2921715" cy="365125"/>
          </a:xfrm>
        </p:spPr>
        <p:txBody>
          <a:bodyPr/>
          <a:lstStyle/>
          <a:p>
            <a:fld id="{3AB41CFF-90C9-47B3-9DA1-F2BF8D839F7E}" type="datetime1">
              <a:rPr lang="en-US" smtClean="0"/>
              <a:t>5/13/22</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421543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5/13/22</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569302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5/13/22</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683754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5/13/22</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45653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5/13/22</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12192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5/13/22</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23417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458694" y="425450"/>
            <a:ext cx="11274612"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458694" y="1949450"/>
            <a:ext cx="11274612"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458694" y="6416675"/>
            <a:ext cx="2743200" cy="365125"/>
          </a:xfrm>
          <a:prstGeom prst="rect">
            <a:avLst/>
          </a:prstGeom>
        </p:spPr>
        <p:txBody>
          <a:bodyPr vert="horz" lIns="91440" tIns="45720" rIns="91440" bIns="45720" rtlCol="0" anchor="ctr"/>
          <a:lstStyle>
            <a:lvl1pPr algn="l">
              <a:defRPr sz="900">
                <a:solidFill>
                  <a:schemeClr val="tx1">
                    <a:alpha val="60000"/>
                  </a:schemeClr>
                </a:solidFill>
                <a:latin typeface="+mn-lt"/>
              </a:defRPr>
            </a:lvl1pPr>
          </a:lstStyle>
          <a:p>
            <a:fld id="{57E0CF6C-748E-4B7A-BC8B-3011EF78ED13}" type="datetime1">
              <a:rPr lang="en-US" smtClean="0"/>
              <a:pPr/>
              <a:t>5/13/22</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416675"/>
            <a:ext cx="4114800" cy="365125"/>
          </a:xfrm>
          <a:prstGeom prst="rect">
            <a:avLst/>
          </a:prstGeom>
        </p:spPr>
        <p:txBody>
          <a:bodyPr vert="horz" lIns="91440" tIns="45720" rIns="91440" bIns="45720" rtlCol="0" anchor="ctr"/>
          <a:lstStyle>
            <a:lvl1pPr algn="ctr">
              <a:defRPr sz="900">
                <a:solidFill>
                  <a:schemeClr val="tx1">
                    <a:alpha val="60000"/>
                  </a:schemeClr>
                </a:solidFill>
                <a:latin typeface="+mn-lt"/>
              </a:defRPr>
            </a:lvl1pPr>
          </a:lstStyle>
          <a:p>
            <a:endParaRPr lang="en-US" dirty="0">
              <a:solidFill>
                <a:schemeClr val="tx1">
                  <a:alpha val="60000"/>
                </a:schemeClr>
              </a:solidFill>
            </a:endParaRPr>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990106" y="6416675"/>
            <a:ext cx="2743200" cy="365125"/>
          </a:xfrm>
          <a:prstGeom prst="rect">
            <a:avLst/>
          </a:prstGeom>
        </p:spPr>
        <p:txBody>
          <a:bodyPr vert="horz" lIns="91440" tIns="45720" rIns="91440" bIns="45720" rtlCol="0" anchor="ctr"/>
          <a:lstStyle>
            <a:lvl1pPr algn="r">
              <a:defRPr sz="900">
                <a:solidFill>
                  <a:schemeClr val="tx1">
                    <a:alpha val="60000"/>
                  </a:schemeClr>
                </a:solidFill>
                <a:latin typeface="+mn-lt"/>
              </a:defRPr>
            </a:lvl1pPr>
          </a:lstStyle>
          <a:p>
            <a:fld id="{73B850FF-6169-4056-8077-06FFA93A5366}" type="slidenum">
              <a:rPr lang="en-US" smtClean="0"/>
              <a:pPr/>
              <a:t>‹#›</a:t>
            </a:fld>
            <a:endParaRPr lang="en-US" dirty="0"/>
          </a:p>
        </p:txBody>
      </p:sp>
      <p:pic>
        <p:nvPicPr>
          <p:cNvPr id="14" name="Picture 13" descr="A picture containing sitting&#10;&#10;Description automatically generated">
            <a:extLst>
              <a:ext uri="{FF2B5EF4-FFF2-40B4-BE49-F238E27FC236}">
                <a16:creationId xmlns:a16="http://schemas.microsoft.com/office/drawing/2014/main" id="{BC526B7A-4801-4FD1-95C8-03AF22629E87}"/>
              </a:ext>
            </a:extLst>
          </p:cNvPr>
          <p:cNvPicPr>
            <a:picLocks noChangeAspect="1"/>
          </p:cNvPicPr>
          <p:nvPr/>
        </p:nvPicPr>
        <p:blipFill>
          <a:blip r:embed="rId13">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Tree>
    <p:extLst>
      <p:ext uri="{BB962C8B-B14F-4D97-AF65-F5344CB8AC3E}">
        <p14:creationId xmlns:p14="http://schemas.microsoft.com/office/powerpoint/2010/main" val="3856218842"/>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 id="2147483803" r:id="rId7"/>
    <p:sldLayoutId id="2147483804" r:id="rId8"/>
    <p:sldLayoutId id="2147483805" r:id="rId9"/>
    <p:sldLayoutId id="2147483806" r:id="rId10"/>
    <p:sldLayoutId id="2147483813" r:id="rId11"/>
  </p:sldLayoutIdLst>
  <p:hf sldNum="0" hdr="0" ftr="0" dt="0"/>
  <p:txStyles>
    <p:titleStyle>
      <a:lvl1pPr algn="l" defTabSz="914400" rtl="0" eaLnBrk="1" latinLnBrk="0" hangingPunct="1">
        <a:lnSpc>
          <a:spcPct val="100000"/>
        </a:lnSpc>
        <a:spcBef>
          <a:spcPct val="0"/>
        </a:spcBef>
        <a:buNone/>
        <a:defRPr sz="4400" b="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5" name="Rectangle 84">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87" name="Picture 86">
            <a:extLst>
              <a:ext uri="{FF2B5EF4-FFF2-40B4-BE49-F238E27FC236}">
                <a16:creationId xmlns:a16="http://schemas.microsoft.com/office/drawing/2014/main" id="{BC526B7A-4801-4FD1-95C8-03AF22629E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 useBgFill="1">
        <p:nvSpPr>
          <p:cNvPr id="89" name="Rectangle 8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91" name="Rectangle 90">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98" name="Rectangle 92">
            <a:extLst>
              <a:ext uri="{FF2B5EF4-FFF2-40B4-BE49-F238E27FC236}">
                <a16:creationId xmlns:a16="http://schemas.microsoft.com/office/drawing/2014/main" id="{DA476813-4CEE-408B-852D-3E51E30B1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27" name="Picture 3">
            <a:extLst>
              <a:ext uri="{FF2B5EF4-FFF2-40B4-BE49-F238E27FC236}">
                <a16:creationId xmlns:a16="http://schemas.microsoft.com/office/drawing/2014/main" id="{312420C7-D06B-F005-8885-4EF74DD6B5FF}"/>
              </a:ext>
            </a:extLst>
          </p:cNvPr>
          <p:cNvPicPr>
            <a:picLocks noChangeAspect="1"/>
          </p:cNvPicPr>
          <p:nvPr/>
        </p:nvPicPr>
        <p:blipFill rotWithShape="1">
          <a:blip r:embed="rId3">
            <a:alphaModFix amt="60000"/>
          </a:blip>
          <a:srcRect b="6269"/>
          <a:stretch/>
        </p:blipFill>
        <p:spPr>
          <a:xfrm>
            <a:off x="20" y="10"/>
            <a:ext cx="12191980" cy="6857990"/>
          </a:xfrm>
          <a:prstGeom prst="rect">
            <a:avLst/>
          </a:prstGeom>
        </p:spPr>
      </p:pic>
      <p:sp>
        <p:nvSpPr>
          <p:cNvPr id="2" name="Title 1">
            <a:extLst>
              <a:ext uri="{FF2B5EF4-FFF2-40B4-BE49-F238E27FC236}">
                <a16:creationId xmlns:a16="http://schemas.microsoft.com/office/drawing/2014/main" id="{DAEDC8FF-FFB1-224C-8C35-09BE82D38F36}"/>
              </a:ext>
            </a:extLst>
          </p:cNvPr>
          <p:cNvSpPr>
            <a:spLocks noGrp="1"/>
          </p:cNvSpPr>
          <p:nvPr>
            <p:ph type="ctrTitle"/>
          </p:nvPr>
        </p:nvSpPr>
        <p:spPr>
          <a:xfrm>
            <a:off x="1198181" y="726066"/>
            <a:ext cx="4795282" cy="5018227"/>
          </a:xfrm>
        </p:spPr>
        <p:txBody>
          <a:bodyPr vert="horz" lIns="91440" tIns="45720" rIns="91440" bIns="45720" rtlCol="0" anchor="ctr">
            <a:normAutofit/>
          </a:bodyPr>
          <a:lstStyle/>
          <a:p>
            <a:pPr algn="l"/>
            <a:r>
              <a:rPr lang="en-US" i="1" spc="100" baseline="0" dirty="0">
                <a:solidFill>
                  <a:srgbClr val="FFFFFF"/>
                </a:solidFill>
              </a:rPr>
              <a:t>Russia v/s Ukraine</a:t>
            </a:r>
          </a:p>
        </p:txBody>
      </p:sp>
      <p:sp>
        <p:nvSpPr>
          <p:cNvPr id="3" name="Subtitle 2">
            <a:extLst>
              <a:ext uri="{FF2B5EF4-FFF2-40B4-BE49-F238E27FC236}">
                <a16:creationId xmlns:a16="http://schemas.microsoft.com/office/drawing/2014/main" id="{F370C3B2-47CD-CB4F-82DD-97F7F0535024}"/>
              </a:ext>
            </a:extLst>
          </p:cNvPr>
          <p:cNvSpPr>
            <a:spLocks noGrp="1"/>
          </p:cNvSpPr>
          <p:nvPr>
            <p:ph type="subTitle" idx="1"/>
          </p:nvPr>
        </p:nvSpPr>
        <p:spPr>
          <a:xfrm>
            <a:off x="6195372" y="726538"/>
            <a:ext cx="4977905" cy="5017076"/>
          </a:xfrm>
        </p:spPr>
        <p:txBody>
          <a:bodyPr vert="horz" lIns="91440" tIns="45720" rIns="91440" bIns="45720" rtlCol="0" anchor="ctr">
            <a:normAutofit/>
          </a:bodyPr>
          <a:lstStyle/>
          <a:p>
            <a:pPr marL="182880" indent="-228600" algn="l">
              <a:buFont typeface="Arial" panose="020B0604020202020204" pitchFamily="34" charset="0"/>
              <a:buChar char="•"/>
            </a:pPr>
            <a:r>
              <a:rPr lang="en-US" sz="1800" dirty="0">
                <a:solidFill>
                  <a:srgbClr val="FFFFFF"/>
                </a:solidFill>
              </a:rPr>
              <a:t>By : </a:t>
            </a:r>
          </a:p>
          <a:p>
            <a:pPr marL="182880" indent="-228600" algn="l">
              <a:buFont typeface="Arial" panose="020B0604020202020204" pitchFamily="34" charset="0"/>
              <a:buChar char="•"/>
            </a:pPr>
            <a:r>
              <a:rPr lang="en-US" sz="1800" dirty="0">
                <a:solidFill>
                  <a:srgbClr val="FFFFFF"/>
                </a:solidFill>
              </a:rPr>
              <a:t>Sanjana Veesam </a:t>
            </a:r>
          </a:p>
          <a:p>
            <a:pPr marL="182880" indent="-228600" algn="l">
              <a:buFont typeface="Arial" panose="020B0604020202020204" pitchFamily="34" charset="0"/>
              <a:buChar char="•"/>
            </a:pPr>
            <a:r>
              <a:rPr lang="en-US" sz="1800" dirty="0">
                <a:solidFill>
                  <a:srgbClr val="FFFFFF"/>
                </a:solidFill>
              </a:rPr>
              <a:t>Shailaja Muchintala</a:t>
            </a:r>
          </a:p>
          <a:p>
            <a:pPr marL="182880" indent="-228600" algn="l">
              <a:buFont typeface="Arial" panose="020B0604020202020204" pitchFamily="34" charset="0"/>
              <a:buChar char="•"/>
            </a:pPr>
            <a:r>
              <a:rPr lang="en-US" sz="1800" dirty="0">
                <a:solidFill>
                  <a:srgbClr val="FFFFFF"/>
                </a:solidFill>
              </a:rPr>
              <a:t>Srinand Andey </a:t>
            </a:r>
          </a:p>
          <a:p>
            <a:pPr marL="182880" indent="-228600" algn="l">
              <a:buFont typeface="Arial" panose="020B0604020202020204" pitchFamily="34" charset="0"/>
              <a:buChar char="•"/>
            </a:pPr>
            <a:r>
              <a:rPr lang="en-US" sz="1800" dirty="0">
                <a:solidFill>
                  <a:srgbClr val="FFFFFF"/>
                </a:solidFill>
              </a:rPr>
              <a:t>Ram Manohar chundi</a:t>
            </a:r>
          </a:p>
          <a:p>
            <a:pPr marL="182880" indent="-228600" algn="l">
              <a:buFont typeface="Arial" panose="020B0604020202020204" pitchFamily="34" charset="0"/>
              <a:buChar char="•"/>
            </a:pPr>
            <a:r>
              <a:rPr lang="en-US" sz="1800" dirty="0">
                <a:solidFill>
                  <a:srgbClr val="FFFFFF"/>
                </a:solidFill>
              </a:rPr>
              <a:t>Ram Chandra Bhavirisetty </a:t>
            </a:r>
          </a:p>
        </p:txBody>
      </p:sp>
    </p:spTree>
    <p:extLst>
      <p:ext uri="{BB962C8B-B14F-4D97-AF65-F5344CB8AC3E}">
        <p14:creationId xmlns:p14="http://schemas.microsoft.com/office/powerpoint/2010/main" val="3692755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12">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4">
            <a:extLst>
              <a:ext uri="{FF2B5EF4-FFF2-40B4-BE49-F238E27FC236}">
                <a16:creationId xmlns:a16="http://schemas.microsoft.com/office/drawing/2014/main" id="{A905C581-3E86-4ADD-9EDD-5FA87B461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6"/>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D3127BE9-69CD-D748-A030-B172939CB9D3}"/>
              </a:ext>
            </a:extLst>
          </p:cNvPr>
          <p:cNvPicPr>
            <a:picLocks noChangeAspect="1"/>
          </p:cNvPicPr>
          <p:nvPr/>
        </p:nvPicPr>
        <p:blipFill rotWithShape="1">
          <a:blip r:embed="rId2">
            <a:alphaModFix amt="60000"/>
          </a:blip>
          <a:srcRect r="-1" b="6244"/>
          <a:stretch/>
        </p:blipFill>
        <p:spPr>
          <a:xfrm>
            <a:off x="20" y="10"/>
            <a:ext cx="12188932" cy="6856614"/>
          </a:xfrm>
          <a:prstGeom prst="rect">
            <a:avLst/>
          </a:prstGeom>
        </p:spPr>
      </p:pic>
      <p:grpSp>
        <p:nvGrpSpPr>
          <p:cNvPr id="17" name="Group 16">
            <a:extLst>
              <a:ext uri="{FF2B5EF4-FFF2-40B4-BE49-F238E27FC236}">
                <a16:creationId xmlns:a16="http://schemas.microsoft.com/office/drawing/2014/main" id="{A4672714-67D2-40D0-B961-A7438FE9C9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0"/>
            <a:ext cx="7724071" cy="6858000"/>
            <a:chOff x="4464881" y="0"/>
            <a:chExt cx="7724071" cy="6858000"/>
          </a:xfrm>
        </p:grpSpPr>
        <p:pic>
          <p:nvPicPr>
            <p:cNvPr id="18" name="Picture 17">
              <a:extLst>
                <a:ext uri="{FF2B5EF4-FFF2-40B4-BE49-F238E27FC236}">
                  <a16:creationId xmlns:a16="http://schemas.microsoft.com/office/drawing/2014/main" id="{A5A1C471-1402-4BD1-8617-F5D9B7EB198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2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19" name="Picture 18">
              <a:extLst>
                <a:ext uri="{FF2B5EF4-FFF2-40B4-BE49-F238E27FC236}">
                  <a16:creationId xmlns:a16="http://schemas.microsoft.com/office/drawing/2014/main" id="{6CCA9701-8B9C-4D7A-AE5B-DD505C96800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10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5" name="Title 4">
            <a:extLst>
              <a:ext uri="{FF2B5EF4-FFF2-40B4-BE49-F238E27FC236}">
                <a16:creationId xmlns:a16="http://schemas.microsoft.com/office/drawing/2014/main" id="{760A61E1-D5C3-1442-B857-F7BBA1CCE62D}"/>
              </a:ext>
            </a:extLst>
          </p:cNvPr>
          <p:cNvSpPr>
            <a:spLocks noGrp="1"/>
          </p:cNvSpPr>
          <p:nvPr>
            <p:ph type="title"/>
          </p:nvPr>
        </p:nvSpPr>
        <p:spPr>
          <a:xfrm>
            <a:off x="1198180" y="726067"/>
            <a:ext cx="9774619" cy="716972"/>
          </a:xfrm>
        </p:spPr>
        <p:txBody>
          <a:bodyPr anchor="b">
            <a:normAutofit fontScale="90000"/>
          </a:bodyPr>
          <a:lstStyle/>
          <a:p>
            <a:pPr algn="ctr"/>
            <a:r>
              <a:rPr lang="en-US" dirty="0">
                <a:solidFill>
                  <a:srgbClr val="FFFFFF"/>
                </a:solidFill>
              </a:rPr>
              <a:t>Introduction </a:t>
            </a:r>
          </a:p>
        </p:txBody>
      </p:sp>
      <p:sp>
        <p:nvSpPr>
          <p:cNvPr id="6" name="Content Placeholder 5">
            <a:extLst>
              <a:ext uri="{FF2B5EF4-FFF2-40B4-BE49-F238E27FC236}">
                <a16:creationId xmlns:a16="http://schemas.microsoft.com/office/drawing/2014/main" id="{EDFD8BAC-CAA4-774A-B80B-AC9CE1FB2463}"/>
              </a:ext>
            </a:extLst>
          </p:cNvPr>
          <p:cNvSpPr>
            <a:spLocks noGrp="1"/>
          </p:cNvSpPr>
          <p:nvPr>
            <p:ph idx="1"/>
          </p:nvPr>
        </p:nvSpPr>
        <p:spPr>
          <a:xfrm>
            <a:off x="1219202" y="1700213"/>
            <a:ext cx="9954076" cy="4243387"/>
          </a:xfrm>
        </p:spPr>
        <p:txBody>
          <a:bodyPr anchor="ctr">
            <a:normAutofit/>
          </a:bodyPr>
          <a:lstStyle/>
          <a:p>
            <a:pPr algn="ctr"/>
            <a:r>
              <a:rPr lang="en-IN" dirty="0">
                <a:solidFill>
                  <a:schemeClr val="bg1"/>
                </a:solidFill>
              </a:rPr>
              <a:t>The Russo-Ukrainian War is an ongoing war between Russia (together with pro-Russian separatist forces) and Ukraine. It began in February 2014 following the Ukrainian Revolution of Dignity, and initially focused on the status of Crimea and the Donbas, internationally recognised as part of Ukraine.</a:t>
            </a:r>
            <a:endParaRPr lang="en-US" sz="1800" dirty="0">
              <a:solidFill>
                <a:schemeClr val="bg1"/>
              </a:solidFill>
            </a:endParaRPr>
          </a:p>
        </p:txBody>
      </p:sp>
    </p:spTree>
    <p:extLst>
      <p:ext uri="{BB962C8B-B14F-4D97-AF65-F5344CB8AC3E}">
        <p14:creationId xmlns:p14="http://schemas.microsoft.com/office/powerpoint/2010/main" val="4056555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12">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4">
            <a:extLst>
              <a:ext uri="{FF2B5EF4-FFF2-40B4-BE49-F238E27FC236}">
                <a16:creationId xmlns:a16="http://schemas.microsoft.com/office/drawing/2014/main" id="{A905C581-3E86-4ADD-9EDD-5FA87B461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6"/>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D3127BE9-69CD-D748-A030-B172939CB9D3}"/>
              </a:ext>
            </a:extLst>
          </p:cNvPr>
          <p:cNvPicPr>
            <a:picLocks noChangeAspect="1"/>
          </p:cNvPicPr>
          <p:nvPr/>
        </p:nvPicPr>
        <p:blipFill rotWithShape="1">
          <a:blip r:embed="rId2">
            <a:alphaModFix amt="60000"/>
          </a:blip>
          <a:srcRect r="-1" b="6244"/>
          <a:stretch/>
        </p:blipFill>
        <p:spPr>
          <a:xfrm>
            <a:off x="20" y="10"/>
            <a:ext cx="12188932" cy="6856614"/>
          </a:xfrm>
          <a:prstGeom prst="rect">
            <a:avLst/>
          </a:prstGeom>
        </p:spPr>
      </p:pic>
      <p:grpSp>
        <p:nvGrpSpPr>
          <p:cNvPr id="17" name="Group 16">
            <a:extLst>
              <a:ext uri="{FF2B5EF4-FFF2-40B4-BE49-F238E27FC236}">
                <a16:creationId xmlns:a16="http://schemas.microsoft.com/office/drawing/2014/main" id="{A4672714-67D2-40D0-B961-A7438FE9C9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0"/>
            <a:ext cx="7724071" cy="6858000"/>
            <a:chOff x="4464881" y="0"/>
            <a:chExt cx="7724071" cy="6858000"/>
          </a:xfrm>
        </p:grpSpPr>
        <p:pic>
          <p:nvPicPr>
            <p:cNvPr id="18" name="Picture 17">
              <a:extLst>
                <a:ext uri="{FF2B5EF4-FFF2-40B4-BE49-F238E27FC236}">
                  <a16:creationId xmlns:a16="http://schemas.microsoft.com/office/drawing/2014/main" id="{A5A1C471-1402-4BD1-8617-F5D9B7EB198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2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19" name="Picture 18">
              <a:extLst>
                <a:ext uri="{FF2B5EF4-FFF2-40B4-BE49-F238E27FC236}">
                  <a16:creationId xmlns:a16="http://schemas.microsoft.com/office/drawing/2014/main" id="{6CCA9701-8B9C-4D7A-AE5B-DD505C96800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10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5" name="Title 4">
            <a:extLst>
              <a:ext uri="{FF2B5EF4-FFF2-40B4-BE49-F238E27FC236}">
                <a16:creationId xmlns:a16="http://schemas.microsoft.com/office/drawing/2014/main" id="{760A61E1-D5C3-1442-B857-F7BBA1CCE62D}"/>
              </a:ext>
            </a:extLst>
          </p:cNvPr>
          <p:cNvSpPr>
            <a:spLocks noGrp="1"/>
          </p:cNvSpPr>
          <p:nvPr>
            <p:ph type="title"/>
          </p:nvPr>
        </p:nvSpPr>
        <p:spPr>
          <a:xfrm>
            <a:off x="1198180" y="726067"/>
            <a:ext cx="9774619" cy="716972"/>
          </a:xfrm>
        </p:spPr>
        <p:txBody>
          <a:bodyPr anchor="b">
            <a:normAutofit fontScale="90000"/>
          </a:bodyPr>
          <a:lstStyle/>
          <a:p>
            <a:pPr algn="ctr"/>
            <a:r>
              <a:rPr lang="en-US" dirty="0">
                <a:solidFill>
                  <a:srgbClr val="FFFFFF"/>
                </a:solidFill>
              </a:rPr>
              <a:t>Goal</a:t>
            </a:r>
          </a:p>
        </p:txBody>
      </p:sp>
      <p:sp>
        <p:nvSpPr>
          <p:cNvPr id="6" name="Content Placeholder 5">
            <a:extLst>
              <a:ext uri="{FF2B5EF4-FFF2-40B4-BE49-F238E27FC236}">
                <a16:creationId xmlns:a16="http://schemas.microsoft.com/office/drawing/2014/main" id="{EDFD8BAC-CAA4-774A-B80B-AC9CE1FB2463}"/>
              </a:ext>
            </a:extLst>
          </p:cNvPr>
          <p:cNvSpPr>
            <a:spLocks noGrp="1"/>
          </p:cNvSpPr>
          <p:nvPr>
            <p:ph idx="1"/>
          </p:nvPr>
        </p:nvSpPr>
        <p:spPr>
          <a:xfrm>
            <a:off x="1219202" y="1700213"/>
            <a:ext cx="9954076" cy="4243387"/>
          </a:xfrm>
        </p:spPr>
        <p:txBody>
          <a:bodyPr anchor="ctr">
            <a:normAutofit/>
          </a:bodyPr>
          <a:lstStyle/>
          <a:p>
            <a:pPr marL="0" indent="0">
              <a:buNone/>
            </a:pPr>
            <a:r>
              <a:rPr lang="en-US" sz="2000" dirty="0">
                <a:solidFill>
                  <a:srgbClr val="FFFFFF"/>
                </a:solidFill>
              </a:rPr>
              <a:t>1</a:t>
            </a:r>
            <a:r>
              <a:rPr lang="en-US" sz="1800" dirty="0">
                <a:solidFill>
                  <a:srgbClr val="FFFFFF"/>
                </a:solidFill>
              </a:rPr>
              <a:t>. </a:t>
            </a:r>
            <a:r>
              <a:rPr lang="en-US" sz="2000" dirty="0">
                <a:solidFill>
                  <a:srgbClr val="FFFFFF"/>
                </a:solidFill>
              </a:rPr>
              <a:t>Extract data from twitter with discussions on the topic of Russia Ukraine war.</a:t>
            </a:r>
          </a:p>
          <a:p>
            <a:pPr marL="0" indent="0">
              <a:buNone/>
            </a:pPr>
            <a:r>
              <a:rPr lang="en-US" sz="2000" dirty="0">
                <a:solidFill>
                  <a:srgbClr val="FFFFFF"/>
                </a:solidFill>
              </a:rPr>
              <a:t>2.  Clean data and create a pre - processed document.</a:t>
            </a:r>
          </a:p>
          <a:p>
            <a:pPr marL="0" indent="0">
              <a:buNone/>
            </a:pPr>
            <a:r>
              <a:rPr lang="en-US" sz="2000" dirty="0">
                <a:solidFill>
                  <a:srgbClr val="FFFFFF"/>
                </a:solidFill>
              </a:rPr>
              <a:t>3. LDA applied on the cleaned data  for training.</a:t>
            </a:r>
          </a:p>
          <a:p>
            <a:pPr marL="0" indent="0">
              <a:buNone/>
            </a:pPr>
            <a:r>
              <a:rPr lang="en-US" sz="2000" dirty="0">
                <a:solidFill>
                  <a:srgbClr val="FFFFFF"/>
                </a:solidFill>
              </a:rPr>
              <a:t>4. Segregated the data into topics.</a:t>
            </a:r>
          </a:p>
          <a:p>
            <a:pPr marL="0" indent="0">
              <a:buNone/>
            </a:pPr>
            <a:r>
              <a:rPr lang="en-US" sz="2000" dirty="0">
                <a:solidFill>
                  <a:srgbClr val="FFFFFF"/>
                </a:solidFill>
              </a:rPr>
              <a:t>5. Explore the words in a topic and their relative weight.</a:t>
            </a:r>
            <a:endParaRPr lang="en-IN" sz="2000" dirty="0"/>
          </a:p>
          <a:p>
            <a:pPr marL="0" indent="0">
              <a:buNone/>
            </a:pPr>
            <a:r>
              <a:rPr lang="en-US" sz="2000" dirty="0">
                <a:solidFill>
                  <a:srgbClr val="FFFFFF"/>
                </a:solidFill>
              </a:rPr>
              <a:t>6. Applied overall graph metrics for twitter data on the topic of Russia Ukraine War.</a:t>
            </a:r>
          </a:p>
          <a:p>
            <a:pPr marL="0" indent="0">
              <a:buNone/>
            </a:pPr>
            <a:endParaRPr lang="en-US" sz="1800" dirty="0">
              <a:solidFill>
                <a:srgbClr val="FFFFFF"/>
              </a:solidFill>
            </a:endParaRPr>
          </a:p>
          <a:p>
            <a:pPr algn="ctr"/>
            <a:endParaRPr lang="en-US" sz="1800" dirty="0">
              <a:solidFill>
                <a:srgbClr val="FFFFFF"/>
              </a:solidFill>
            </a:endParaRPr>
          </a:p>
        </p:txBody>
      </p:sp>
    </p:spTree>
    <p:extLst>
      <p:ext uri="{BB962C8B-B14F-4D97-AF65-F5344CB8AC3E}">
        <p14:creationId xmlns:p14="http://schemas.microsoft.com/office/powerpoint/2010/main" val="3121947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12">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4">
            <a:extLst>
              <a:ext uri="{FF2B5EF4-FFF2-40B4-BE49-F238E27FC236}">
                <a16:creationId xmlns:a16="http://schemas.microsoft.com/office/drawing/2014/main" id="{A905C581-3E86-4ADD-9EDD-5FA87B461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6"/>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D3127BE9-69CD-D748-A030-B172939CB9D3}"/>
              </a:ext>
            </a:extLst>
          </p:cNvPr>
          <p:cNvPicPr>
            <a:picLocks noChangeAspect="1"/>
          </p:cNvPicPr>
          <p:nvPr/>
        </p:nvPicPr>
        <p:blipFill rotWithShape="1">
          <a:blip r:embed="rId2">
            <a:alphaModFix amt="60000"/>
          </a:blip>
          <a:srcRect r="-1" b="6244"/>
          <a:stretch/>
        </p:blipFill>
        <p:spPr>
          <a:xfrm>
            <a:off x="20" y="10"/>
            <a:ext cx="12188932" cy="6856614"/>
          </a:xfrm>
          <a:prstGeom prst="rect">
            <a:avLst/>
          </a:prstGeom>
        </p:spPr>
      </p:pic>
      <p:grpSp>
        <p:nvGrpSpPr>
          <p:cNvPr id="17" name="Group 16">
            <a:extLst>
              <a:ext uri="{FF2B5EF4-FFF2-40B4-BE49-F238E27FC236}">
                <a16:creationId xmlns:a16="http://schemas.microsoft.com/office/drawing/2014/main" id="{A4672714-67D2-40D0-B961-A7438FE9C9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0"/>
            <a:ext cx="7724071" cy="6858000"/>
            <a:chOff x="4464881" y="0"/>
            <a:chExt cx="7724071" cy="6858000"/>
          </a:xfrm>
        </p:grpSpPr>
        <p:pic>
          <p:nvPicPr>
            <p:cNvPr id="18" name="Picture 17">
              <a:extLst>
                <a:ext uri="{FF2B5EF4-FFF2-40B4-BE49-F238E27FC236}">
                  <a16:creationId xmlns:a16="http://schemas.microsoft.com/office/drawing/2014/main" id="{A5A1C471-1402-4BD1-8617-F5D9B7EB198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2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19" name="Picture 18">
              <a:extLst>
                <a:ext uri="{FF2B5EF4-FFF2-40B4-BE49-F238E27FC236}">
                  <a16:creationId xmlns:a16="http://schemas.microsoft.com/office/drawing/2014/main" id="{6CCA9701-8B9C-4D7A-AE5B-DD505C96800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10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5" name="Title 4">
            <a:extLst>
              <a:ext uri="{FF2B5EF4-FFF2-40B4-BE49-F238E27FC236}">
                <a16:creationId xmlns:a16="http://schemas.microsoft.com/office/drawing/2014/main" id="{760A61E1-D5C3-1442-B857-F7BBA1CCE62D}"/>
              </a:ext>
            </a:extLst>
          </p:cNvPr>
          <p:cNvSpPr>
            <a:spLocks noGrp="1"/>
          </p:cNvSpPr>
          <p:nvPr>
            <p:ph type="title"/>
          </p:nvPr>
        </p:nvSpPr>
        <p:spPr>
          <a:xfrm>
            <a:off x="1198180" y="726067"/>
            <a:ext cx="9774619" cy="716972"/>
          </a:xfrm>
        </p:spPr>
        <p:txBody>
          <a:bodyPr anchor="b">
            <a:normAutofit fontScale="90000"/>
          </a:bodyPr>
          <a:lstStyle/>
          <a:p>
            <a:pPr algn="ctr"/>
            <a:r>
              <a:rPr lang="en-US" dirty="0">
                <a:solidFill>
                  <a:srgbClr val="FFFFFF"/>
                </a:solidFill>
              </a:rPr>
              <a:t>Data</a:t>
            </a:r>
          </a:p>
        </p:txBody>
      </p:sp>
      <p:sp>
        <p:nvSpPr>
          <p:cNvPr id="6" name="Content Placeholder 5">
            <a:extLst>
              <a:ext uri="{FF2B5EF4-FFF2-40B4-BE49-F238E27FC236}">
                <a16:creationId xmlns:a16="http://schemas.microsoft.com/office/drawing/2014/main" id="{EDFD8BAC-CAA4-774A-B80B-AC9CE1FB2463}"/>
              </a:ext>
            </a:extLst>
          </p:cNvPr>
          <p:cNvSpPr>
            <a:spLocks noGrp="1"/>
          </p:cNvSpPr>
          <p:nvPr>
            <p:ph idx="1"/>
          </p:nvPr>
        </p:nvSpPr>
        <p:spPr>
          <a:xfrm>
            <a:off x="1219202" y="1700213"/>
            <a:ext cx="9954076" cy="4243387"/>
          </a:xfrm>
        </p:spPr>
        <p:txBody>
          <a:bodyPr anchor="ctr">
            <a:normAutofit/>
          </a:bodyPr>
          <a:lstStyle/>
          <a:p>
            <a:r>
              <a:rPr lang="en-US" sz="2000" dirty="0">
                <a:solidFill>
                  <a:srgbClr val="FFFFFF"/>
                </a:solidFill>
              </a:rPr>
              <a:t>Analyzing data on Russian invasion on Ukraine</a:t>
            </a:r>
          </a:p>
          <a:p>
            <a:r>
              <a:rPr lang="en-US" sz="2000" dirty="0">
                <a:solidFill>
                  <a:srgbClr val="FFFFFF"/>
                </a:solidFill>
              </a:rPr>
              <a:t>Collecting tweets and performed topic modelling algorithm</a:t>
            </a:r>
          </a:p>
          <a:p>
            <a:r>
              <a:rPr lang="en-US" sz="2000" dirty="0">
                <a:solidFill>
                  <a:srgbClr val="FFFFFF"/>
                </a:solidFill>
              </a:rPr>
              <a:t>Calculated all group metrics and derived the insights</a:t>
            </a:r>
          </a:p>
          <a:p>
            <a:pPr algn="ctr"/>
            <a:endParaRPr lang="en-US" sz="1800" dirty="0">
              <a:solidFill>
                <a:srgbClr val="FFFFFF"/>
              </a:solidFill>
            </a:endParaRPr>
          </a:p>
        </p:txBody>
      </p:sp>
    </p:spTree>
    <p:extLst>
      <p:ext uri="{BB962C8B-B14F-4D97-AF65-F5344CB8AC3E}">
        <p14:creationId xmlns:p14="http://schemas.microsoft.com/office/powerpoint/2010/main" val="156277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12">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4">
            <a:extLst>
              <a:ext uri="{FF2B5EF4-FFF2-40B4-BE49-F238E27FC236}">
                <a16:creationId xmlns:a16="http://schemas.microsoft.com/office/drawing/2014/main" id="{A905C581-3E86-4ADD-9EDD-5FA87B461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6"/>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D3127BE9-69CD-D748-A030-B172939CB9D3}"/>
              </a:ext>
            </a:extLst>
          </p:cNvPr>
          <p:cNvPicPr>
            <a:picLocks noChangeAspect="1"/>
          </p:cNvPicPr>
          <p:nvPr/>
        </p:nvPicPr>
        <p:blipFill rotWithShape="1">
          <a:blip r:embed="rId2">
            <a:alphaModFix amt="60000"/>
          </a:blip>
          <a:srcRect r="-1" b="6244"/>
          <a:stretch/>
        </p:blipFill>
        <p:spPr>
          <a:xfrm>
            <a:off x="20" y="10"/>
            <a:ext cx="12191396" cy="6858000"/>
          </a:xfrm>
          <a:prstGeom prst="rect">
            <a:avLst/>
          </a:prstGeom>
        </p:spPr>
      </p:pic>
      <p:grpSp>
        <p:nvGrpSpPr>
          <p:cNvPr id="17" name="Group 16">
            <a:extLst>
              <a:ext uri="{FF2B5EF4-FFF2-40B4-BE49-F238E27FC236}">
                <a16:creationId xmlns:a16="http://schemas.microsoft.com/office/drawing/2014/main" id="{A4672714-67D2-40D0-B961-A7438FE9C9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0"/>
            <a:ext cx="7724071" cy="6858000"/>
            <a:chOff x="4464881" y="0"/>
            <a:chExt cx="7724071" cy="6858000"/>
          </a:xfrm>
        </p:grpSpPr>
        <p:pic>
          <p:nvPicPr>
            <p:cNvPr id="18" name="Picture 17">
              <a:extLst>
                <a:ext uri="{FF2B5EF4-FFF2-40B4-BE49-F238E27FC236}">
                  <a16:creationId xmlns:a16="http://schemas.microsoft.com/office/drawing/2014/main" id="{A5A1C471-1402-4BD1-8617-F5D9B7EB198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2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19" name="Picture 18">
              <a:extLst>
                <a:ext uri="{FF2B5EF4-FFF2-40B4-BE49-F238E27FC236}">
                  <a16:creationId xmlns:a16="http://schemas.microsoft.com/office/drawing/2014/main" id="{6CCA9701-8B9C-4D7A-AE5B-DD505C96800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10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5" name="Title 4">
            <a:extLst>
              <a:ext uri="{FF2B5EF4-FFF2-40B4-BE49-F238E27FC236}">
                <a16:creationId xmlns:a16="http://schemas.microsoft.com/office/drawing/2014/main" id="{760A61E1-D5C3-1442-B857-F7BBA1CCE62D}"/>
              </a:ext>
            </a:extLst>
          </p:cNvPr>
          <p:cNvSpPr>
            <a:spLocks noGrp="1"/>
          </p:cNvSpPr>
          <p:nvPr>
            <p:ph type="title"/>
          </p:nvPr>
        </p:nvSpPr>
        <p:spPr>
          <a:xfrm>
            <a:off x="1198180" y="726067"/>
            <a:ext cx="9774619" cy="716972"/>
          </a:xfrm>
        </p:spPr>
        <p:txBody>
          <a:bodyPr anchor="b">
            <a:normAutofit fontScale="90000"/>
          </a:bodyPr>
          <a:lstStyle/>
          <a:p>
            <a:pPr algn="ctr"/>
            <a:r>
              <a:rPr lang="en-US" dirty="0">
                <a:solidFill>
                  <a:srgbClr val="FFFFFF"/>
                </a:solidFill>
              </a:rPr>
              <a:t>In-degree Analysis</a:t>
            </a:r>
          </a:p>
        </p:txBody>
      </p:sp>
      <p:pic>
        <p:nvPicPr>
          <p:cNvPr id="3" name="Content Placeholder 2">
            <a:extLst>
              <a:ext uri="{FF2B5EF4-FFF2-40B4-BE49-F238E27FC236}">
                <a16:creationId xmlns:a16="http://schemas.microsoft.com/office/drawing/2014/main" id="{3E5A741B-EEBA-9D43-9A28-BA203870C765}"/>
              </a:ext>
            </a:extLst>
          </p:cNvPr>
          <p:cNvPicPr>
            <a:picLocks noGrp="1" noChangeAspect="1"/>
          </p:cNvPicPr>
          <p:nvPr>
            <p:ph idx="1"/>
          </p:nvPr>
        </p:nvPicPr>
        <p:blipFill>
          <a:blip r:embed="rId5"/>
          <a:stretch>
            <a:fillRect/>
          </a:stretch>
        </p:blipFill>
        <p:spPr>
          <a:xfrm>
            <a:off x="4136507" y="3824509"/>
            <a:ext cx="2933700" cy="1231900"/>
          </a:xfrm>
        </p:spPr>
      </p:pic>
      <p:sp>
        <p:nvSpPr>
          <p:cNvPr id="14" name="TextBox 13">
            <a:extLst>
              <a:ext uri="{FF2B5EF4-FFF2-40B4-BE49-F238E27FC236}">
                <a16:creationId xmlns:a16="http://schemas.microsoft.com/office/drawing/2014/main" id="{E5D41000-58DB-DC4B-BF3E-88828D3FFDF5}"/>
              </a:ext>
            </a:extLst>
          </p:cNvPr>
          <p:cNvSpPr txBox="1"/>
          <p:nvPr/>
        </p:nvSpPr>
        <p:spPr>
          <a:xfrm>
            <a:off x="1378062" y="1835754"/>
            <a:ext cx="10434187" cy="369332"/>
          </a:xfrm>
          <a:prstGeom prst="rect">
            <a:avLst/>
          </a:prstGeom>
          <a:noFill/>
        </p:spPr>
        <p:txBody>
          <a:bodyPr wrap="square">
            <a:spAutoFit/>
          </a:bodyPr>
          <a:lstStyle/>
          <a:p>
            <a:r>
              <a:rPr lang="en-US" dirty="0">
                <a:solidFill>
                  <a:srgbClr val="FFFFFF"/>
                </a:solidFill>
              </a:rPr>
              <a:t>1. amoneyresists, blabla38480996, senonolennon are the highest indegree vertices.</a:t>
            </a:r>
            <a:endParaRPr lang="en-US" sz="1800" dirty="0">
              <a:solidFill>
                <a:srgbClr val="FFFFFF"/>
              </a:solidFill>
            </a:endParaRPr>
          </a:p>
        </p:txBody>
      </p:sp>
    </p:spTree>
    <p:extLst>
      <p:ext uri="{BB962C8B-B14F-4D97-AF65-F5344CB8AC3E}">
        <p14:creationId xmlns:p14="http://schemas.microsoft.com/office/powerpoint/2010/main" val="3041181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12">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4">
            <a:extLst>
              <a:ext uri="{FF2B5EF4-FFF2-40B4-BE49-F238E27FC236}">
                <a16:creationId xmlns:a16="http://schemas.microsoft.com/office/drawing/2014/main" id="{A905C581-3E86-4ADD-9EDD-5FA87B461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6"/>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D3127BE9-69CD-D748-A030-B172939CB9D3}"/>
              </a:ext>
            </a:extLst>
          </p:cNvPr>
          <p:cNvPicPr>
            <a:picLocks noChangeAspect="1"/>
          </p:cNvPicPr>
          <p:nvPr/>
        </p:nvPicPr>
        <p:blipFill rotWithShape="1">
          <a:blip r:embed="rId2">
            <a:alphaModFix amt="60000"/>
          </a:blip>
          <a:srcRect r="-1" b="6244"/>
          <a:stretch/>
        </p:blipFill>
        <p:spPr>
          <a:xfrm>
            <a:off x="20" y="10"/>
            <a:ext cx="12188932" cy="6856614"/>
          </a:xfrm>
          <a:prstGeom prst="rect">
            <a:avLst/>
          </a:prstGeom>
        </p:spPr>
      </p:pic>
      <p:grpSp>
        <p:nvGrpSpPr>
          <p:cNvPr id="17" name="Group 16">
            <a:extLst>
              <a:ext uri="{FF2B5EF4-FFF2-40B4-BE49-F238E27FC236}">
                <a16:creationId xmlns:a16="http://schemas.microsoft.com/office/drawing/2014/main" id="{A4672714-67D2-40D0-B961-A7438FE9C9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0"/>
            <a:ext cx="7724071" cy="6858000"/>
            <a:chOff x="4464881" y="0"/>
            <a:chExt cx="7724071" cy="6858000"/>
          </a:xfrm>
        </p:grpSpPr>
        <p:pic>
          <p:nvPicPr>
            <p:cNvPr id="18" name="Picture 17">
              <a:extLst>
                <a:ext uri="{FF2B5EF4-FFF2-40B4-BE49-F238E27FC236}">
                  <a16:creationId xmlns:a16="http://schemas.microsoft.com/office/drawing/2014/main" id="{A5A1C471-1402-4BD1-8617-F5D9B7EB198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2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19" name="Picture 18">
              <a:extLst>
                <a:ext uri="{FF2B5EF4-FFF2-40B4-BE49-F238E27FC236}">
                  <a16:creationId xmlns:a16="http://schemas.microsoft.com/office/drawing/2014/main" id="{6CCA9701-8B9C-4D7A-AE5B-DD505C96800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10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5" name="Title 4">
            <a:extLst>
              <a:ext uri="{FF2B5EF4-FFF2-40B4-BE49-F238E27FC236}">
                <a16:creationId xmlns:a16="http://schemas.microsoft.com/office/drawing/2014/main" id="{760A61E1-D5C3-1442-B857-F7BBA1CCE62D}"/>
              </a:ext>
            </a:extLst>
          </p:cNvPr>
          <p:cNvSpPr>
            <a:spLocks noGrp="1"/>
          </p:cNvSpPr>
          <p:nvPr>
            <p:ph type="title"/>
          </p:nvPr>
        </p:nvSpPr>
        <p:spPr>
          <a:xfrm>
            <a:off x="1198180" y="726067"/>
            <a:ext cx="9774619" cy="716972"/>
          </a:xfrm>
        </p:spPr>
        <p:txBody>
          <a:bodyPr anchor="b">
            <a:normAutofit fontScale="90000"/>
          </a:bodyPr>
          <a:lstStyle/>
          <a:p>
            <a:pPr algn="ctr"/>
            <a:r>
              <a:rPr lang="en-US" dirty="0">
                <a:solidFill>
                  <a:srgbClr val="FFFFFF"/>
                </a:solidFill>
              </a:rPr>
              <a:t>Out degree analysis</a:t>
            </a:r>
          </a:p>
        </p:txBody>
      </p:sp>
      <p:pic>
        <p:nvPicPr>
          <p:cNvPr id="3" name="Content Placeholder 2" descr="Table&#10;&#10;Description automatically generated">
            <a:extLst>
              <a:ext uri="{FF2B5EF4-FFF2-40B4-BE49-F238E27FC236}">
                <a16:creationId xmlns:a16="http://schemas.microsoft.com/office/drawing/2014/main" id="{19180E9A-80F2-794C-A8B7-4D38C64BE3F5}"/>
              </a:ext>
            </a:extLst>
          </p:cNvPr>
          <p:cNvPicPr>
            <a:picLocks noGrp="1" noChangeAspect="1"/>
          </p:cNvPicPr>
          <p:nvPr>
            <p:ph idx="1"/>
          </p:nvPr>
        </p:nvPicPr>
        <p:blipFill>
          <a:blip r:embed="rId5"/>
          <a:stretch>
            <a:fillRect/>
          </a:stretch>
        </p:blipFill>
        <p:spPr>
          <a:xfrm>
            <a:off x="4691062" y="3186906"/>
            <a:ext cx="3009900" cy="1270000"/>
          </a:xfrm>
        </p:spPr>
      </p:pic>
      <p:sp>
        <p:nvSpPr>
          <p:cNvPr id="14" name="TextBox 13">
            <a:extLst>
              <a:ext uri="{FF2B5EF4-FFF2-40B4-BE49-F238E27FC236}">
                <a16:creationId xmlns:a16="http://schemas.microsoft.com/office/drawing/2014/main" id="{B162EAD5-E2EF-6E46-9B92-9524C6343308}"/>
              </a:ext>
            </a:extLst>
          </p:cNvPr>
          <p:cNvSpPr txBox="1"/>
          <p:nvPr/>
        </p:nvSpPr>
        <p:spPr>
          <a:xfrm>
            <a:off x="749508" y="1991807"/>
            <a:ext cx="10223291" cy="369332"/>
          </a:xfrm>
          <a:prstGeom prst="rect">
            <a:avLst/>
          </a:prstGeom>
          <a:noFill/>
        </p:spPr>
        <p:txBody>
          <a:bodyPr wrap="square">
            <a:spAutoFit/>
          </a:bodyPr>
          <a:lstStyle/>
          <a:p>
            <a:r>
              <a:rPr lang="en-US" dirty="0">
                <a:solidFill>
                  <a:srgbClr val="FFFFFF"/>
                </a:solidFill>
              </a:rPr>
              <a:t>Repfarnesworth, johnoz1900, ram0667are the highest out-degree vertices</a:t>
            </a:r>
            <a:endParaRPr lang="en-US" dirty="0"/>
          </a:p>
        </p:txBody>
      </p:sp>
    </p:spTree>
    <p:extLst>
      <p:ext uri="{BB962C8B-B14F-4D97-AF65-F5344CB8AC3E}">
        <p14:creationId xmlns:p14="http://schemas.microsoft.com/office/powerpoint/2010/main" val="132103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12">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4">
            <a:extLst>
              <a:ext uri="{FF2B5EF4-FFF2-40B4-BE49-F238E27FC236}">
                <a16:creationId xmlns:a16="http://schemas.microsoft.com/office/drawing/2014/main" id="{A905C581-3E86-4ADD-9EDD-5FA87B461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6"/>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D3127BE9-69CD-D748-A030-B172939CB9D3}"/>
              </a:ext>
            </a:extLst>
          </p:cNvPr>
          <p:cNvPicPr>
            <a:picLocks noChangeAspect="1"/>
          </p:cNvPicPr>
          <p:nvPr/>
        </p:nvPicPr>
        <p:blipFill rotWithShape="1">
          <a:blip r:embed="rId2">
            <a:alphaModFix amt="60000"/>
          </a:blip>
          <a:srcRect r="-1" b="6244"/>
          <a:stretch/>
        </p:blipFill>
        <p:spPr>
          <a:xfrm>
            <a:off x="20" y="10"/>
            <a:ext cx="12188932" cy="6856614"/>
          </a:xfrm>
          <a:prstGeom prst="rect">
            <a:avLst/>
          </a:prstGeom>
        </p:spPr>
      </p:pic>
      <p:grpSp>
        <p:nvGrpSpPr>
          <p:cNvPr id="17" name="Group 16">
            <a:extLst>
              <a:ext uri="{FF2B5EF4-FFF2-40B4-BE49-F238E27FC236}">
                <a16:creationId xmlns:a16="http://schemas.microsoft.com/office/drawing/2014/main" id="{A4672714-67D2-40D0-B961-A7438FE9C9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0"/>
            <a:ext cx="7724071" cy="6858000"/>
            <a:chOff x="4464881" y="0"/>
            <a:chExt cx="7724071" cy="6858000"/>
          </a:xfrm>
        </p:grpSpPr>
        <p:pic>
          <p:nvPicPr>
            <p:cNvPr id="18" name="Picture 17">
              <a:extLst>
                <a:ext uri="{FF2B5EF4-FFF2-40B4-BE49-F238E27FC236}">
                  <a16:creationId xmlns:a16="http://schemas.microsoft.com/office/drawing/2014/main" id="{A5A1C471-1402-4BD1-8617-F5D9B7EB198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2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19" name="Picture 18">
              <a:extLst>
                <a:ext uri="{FF2B5EF4-FFF2-40B4-BE49-F238E27FC236}">
                  <a16:creationId xmlns:a16="http://schemas.microsoft.com/office/drawing/2014/main" id="{6CCA9701-8B9C-4D7A-AE5B-DD505C96800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10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5" name="Title 4">
            <a:extLst>
              <a:ext uri="{FF2B5EF4-FFF2-40B4-BE49-F238E27FC236}">
                <a16:creationId xmlns:a16="http://schemas.microsoft.com/office/drawing/2014/main" id="{760A61E1-D5C3-1442-B857-F7BBA1CCE62D}"/>
              </a:ext>
            </a:extLst>
          </p:cNvPr>
          <p:cNvSpPr>
            <a:spLocks noGrp="1"/>
          </p:cNvSpPr>
          <p:nvPr>
            <p:ph type="title"/>
          </p:nvPr>
        </p:nvSpPr>
        <p:spPr>
          <a:xfrm>
            <a:off x="1198180" y="726067"/>
            <a:ext cx="9774619" cy="716972"/>
          </a:xfrm>
        </p:spPr>
        <p:txBody>
          <a:bodyPr anchor="b">
            <a:normAutofit fontScale="90000"/>
          </a:bodyPr>
          <a:lstStyle/>
          <a:p>
            <a:pPr algn="ctr"/>
            <a:r>
              <a:rPr lang="en-US" dirty="0">
                <a:solidFill>
                  <a:srgbClr val="FFFFFF"/>
                </a:solidFill>
              </a:rPr>
              <a:t>Betweenness Centrality</a:t>
            </a:r>
          </a:p>
        </p:txBody>
      </p:sp>
      <p:sp>
        <p:nvSpPr>
          <p:cNvPr id="6" name="Content Placeholder 5">
            <a:extLst>
              <a:ext uri="{FF2B5EF4-FFF2-40B4-BE49-F238E27FC236}">
                <a16:creationId xmlns:a16="http://schemas.microsoft.com/office/drawing/2014/main" id="{EDFD8BAC-CAA4-774A-B80B-AC9CE1FB2463}"/>
              </a:ext>
            </a:extLst>
          </p:cNvPr>
          <p:cNvSpPr>
            <a:spLocks noGrp="1"/>
          </p:cNvSpPr>
          <p:nvPr>
            <p:ph idx="1"/>
          </p:nvPr>
        </p:nvSpPr>
        <p:spPr>
          <a:xfrm>
            <a:off x="1219202" y="1700213"/>
            <a:ext cx="9954076" cy="1072967"/>
          </a:xfrm>
        </p:spPr>
        <p:txBody>
          <a:bodyPr anchor="ctr">
            <a:normAutofit/>
          </a:bodyPr>
          <a:lstStyle/>
          <a:p>
            <a:r>
              <a:rPr lang="en-US" sz="1800" dirty="0">
                <a:solidFill>
                  <a:srgbClr val="FFFFFF"/>
                </a:solidFill>
              </a:rPr>
              <a:t>The account with Amoneyresists, randpaul, blabla38480996 have the highest betweenness centrality.</a:t>
            </a:r>
          </a:p>
          <a:p>
            <a:endParaRPr lang="en-US" sz="1800" dirty="0">
              <a:solidFill>
                <a:srgbClr val="FFFFFF"/>
              </a:solidFill>
            </a:endParaRPr>
          </a:p>
        </p:txBody>
      </p:sp>
      <p:graphicFrame>
        <p:nvGraphicFramePr>
          <p:cNvPr id="2" name="Table 1">
            <a:extLst>
              <a:ext uri="{FF2B5EF4-FFF2-40B4-BE49-F238E27FC236}">
                <a16:creationId xmlns:a16="http://schemas.microsoft.com/office/drawing/2014/main" id="{7FB1E007-265D-1F4F-92C1-4774E3D2F462}"/>
              </a:ext>
            </a:extLst>
          </p:cNvPr>
          <p:cNvGraphicFramePr>
            <a:graphicFrameLocks noGrp="1"/>
          </p:cNvGraphicFramePr>
          <p:nvPr/>
        </p:nvGraphicFramePr>
        <p:xfrm>
          <a:off x="0" y="0"/>
          <a:ext cx="698500" cy="190500"/>
        </p:xfrm>
        <a:graphic>
          <a:graphicData uri="http://schemas.openxmlformats.org/drawingml/2006/table">
            <a:tbl>
              <a:tblPr>
                <a:tableStyleId>{5C22544A-7EE6-4342-B048-85BDC9FD1C3A}</a:tableStyleId>
              </a:tblPr>
              <a:tblGrid>
                <a:gridCol w="698500">
                  <a:extLst>
                    <a:ext uri="{9D8B030D-6E8A-4147-A177-3AD203B41FA5}">
                      <a16:colId xmlns:a16="http://schemas.microsoft.com/office/drawing/2014/main" val="1180398934"/>
                    </a:ext>
                  </a:extLst>
                </a:gridCol>
              </a:tblGrid>
              <a:tr h="190500">
                <a:tc>
                  <a:txBody>
                    <a:bodyPr/>
                    <a:lstStyle/>
                    <a:p>
                      <a:pPr algn="l" fontAlgn="b"/>
                      <a:r>
                        <a:rPr lang="en-IN" sz="1100" u="none" strike="noStrike" dirty="0" err="1">
                          <a:effectLst/>
                        </a:rPr>
                        <a:t>randpaul</a:t>
                      </a:r>
                      <a:endParaRPr lang="en-IN" sz="11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039600107"/>
                  </a:ext>
                </a:extLst>
              </a:tr>
            </a:tbl>
          </a:graphicData>
        </a:graphic>
      </p:graphicFrame>
      <p:graphicFrame>
        <p:nvGraphicFramePr>
          <p:cNvPr id="3" name="Table 2">
            <a:extLst>
              <a:ext uri="{FF2B5EF4-FFF2-40B4-BE49-F238E27FC236}">
                <a16:creationId xmlns:a16="http://schemas.microsoft.com/office/drawing/2014/main" id="{7E600BFC-0E83-9142-9AC6-3FD884CF9E8A}"/>
              </a:ext>
            </a:extLst>
          </p:cNvPr>
          <p:cNvGraphicFramePr>
            <a:graphicFrameLocks noGrp="1"/>
          </p:cNvGraphicFramePr>
          <p:nvPr/>
        </p:nvGraphicFramePr>
        <p:xfrm>
          <a:off x="0" y="0"/>
          <a:ext cx="698500" cy="190500"/>
        </p:xfrm>
        <a:graphic>
          <a:graphicData uri="http://schemas.openxmlformats.org/drawingml/2006/table">
            <a:tbl>
              <a:tblPr>
                <a:tableStyleId>{5C22544A-7EE6-4342-B048-85BDC9FD1C3A}</a:tableStyleId>
              </a:tblPr>
              <a:tblGrid>
                <a:gridCol w="698500">
                  <a:extLst>
                    <a:ext uri="{9D8B030D-6E8A-4147-A177-3AD203B41FA5}">
                      <a16:colId xmlns:a16="http://schemas.microsoft.com/office/drawing/2014/main" val="1761945912"/>
                    </a:ext>
                  </a:extLst>
                </a:gridCol>
              </a:tblGrid>
              <a:tr h="190500">
                <a:tc>
                  <a:txBody>
                    <a:bodyPr/>
                    <a:lstStyle/>
                    <a:p>
                      <a:pPr algn="l" fontAlgn="b"/>
                      <a:r>
                        <a:rPr lang="en-IN" sz="1100" u="none" strike="noStrike" dirty="0" err="1">
                          <a:effectLst/>
                        </a:rPr>
                        <a:t>randpaul</a:t>
                      </a:r>
                      <a:endParaRPr lang="en-IN" sz="11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567533693"/>
                  </a:ext>
                </a:extLst>
              </a:tr>
            </a:tbl>
          </a:graphicData>
        </a:graphic>
      </p:graphicFrame>
      <p:pic>
        <p:nvPicPr>
          <p:cNvPr id="15" name="Picture 14" descr="Table&#10;&#10;Description automatically generated">
            <a:extLst>
              <a:ext uri="{FF2B5EF4-FFF2-40B4-BE49-F238E27FC236}">
                <a16:creationId xmlns:a16="http://schemas.microsoft.com/office/drawing/2014/main" id="{8AA012AF-E21D-FE4E-BF71-3A8F387B18F3}"/>
              </a:ext>
            </a:extLst>
          </p:cNvPr>
          <p:cNvPicPr>
            <a:picLocks noChangeAspect="1"/>
          </p:cNvPicPr>
          <p:nvPr/>
        </p:nvPicPr>
        <p:blipFill>
          <a:blip r:embed="rId5"/>
          <a:stretch>
            <a:fillRect/>
          </a:stretch>
        </p:blipFill>
        <p:spPr>
          <a:xfrm>
            <a:off x="2451356" y="3143242"/>
            <a:ext cx="6314770" cy="2293937"/>
          </a:xfrm>
          <a:prstGeom prst="rect">
            <a:avLst/>
          </a:prstGeom>
        </p:spPr>
      </p:pic>
    </p:spTree>
    <p:extLst>
      <p:ext uri="{BB962C8B-B14F-4D97-AF65-F5344CB8AC3E}">
        <p14:creationId xmlns:p14="http://schemas.microsoft.com/office/powerpoint/2010/main" val="3306196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12">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4">
            <a:extLst>
              <a:ext uri="{FF2B5EF4-FFF2-40B4-BE49-F238E27FC236}">
                <a16:creationId xmlns:a16="http://schemas.microsoft.com/office/drawing/2014/main" id="{A905C581-3E86-4ADD-9EDD-5FA87B461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6"/>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D3127BE9-69CD-D748-A030-B172939CB9D3}"/>
              </a:ext>
            </a:extLst>
          </p:cNvPr>
          <p:cNvPicPr>
            <a:picLocks noChangeAspect="1"/>
          </p:cNvPicPr>
          <p:nvPr/>
        </p:nvPicPr>
        <p:blipFill rotWithShape="1">
          <a:blip r:embed="rId2">
            <a:alphaModFix amt="60000"/>
          </a:blip>
          <a:srcRect r="-1" b="6244"/>
          <a:stretch/>
        </p:blipFill>
        <p:spPr>
          <a:xfrm>
            <a:off x="20" y="10"/>
            <a:ext cx="12188932" cy="6856614"/>
          </a:xfrm>
          <a:prstGeom prst="rect">
            <a:avLst/>
          </a:prstGeom>
        </p:spPr>
      </p:pic>
      <p:grpSp>
        <p:nvGrpSpPr>
          <p:cNvPr id="17" name="Group 16">
            <a:extLst>
              <a:ext uri="{FF2B5EF4-FFF2-40B4-BE49-F238E27FC236}">
                <a16:creationId xmlns:a16="http://schemas.microsoft.com/office/drawing/2014/main" id="{A4672714-67D2-40D0-B961-A7438FE9C9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0"/>
            <a:ext cx="7724071" cy="6858000"/>
            <a:chOff x="4464881" y="0"/>
            <a:chExt cx="7724071" cy="6858000"/>
          </a:xfrm>
        </p:grpSpPr>
        <p:pic>
          <p:nvPicPr>
            <p:cNvPr id="18" name="Picture 17">
              <a:extLst>
                <a:ext uri="{FF2B5EF4-FFF2-40B4-BE49-F238E27FC236}">
                  <a16:creationId xmlns:a16="http://schemas.microsoft.com/office/drawing/2014/main" id="{A5A1C471-1402-4BD1-8617-F5D9B7EB198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2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19" name="Picture 18">
              <a:extLst>
                <a:ext uri="{FF2B5EF4-FFF2-40B4-BE49-F238E27FC236}">
                  <a16:creationId xmlns:a16="http://schemas.microsoft.com/office/drawing/2014/main" id="{6CCA9701-8B9C-4D7A-AE5B-DD505C96800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10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5" name="Title 4">
            <a:extLst>
              <a:ext uri="{FF2B5EF4-FFF2-40B4-BE49-F238E27FC236}">
                <a16:creationId xmlns:a16="http://schemas.microsoft.com/office/drawing/2014/main" id="{760A61E1-D5C3-1442-B857-F7BBA1CCE62D}"/>
              </a:ext>
            </a:extLst>
          </p:cNvPr>
          <p:cNvSpPr>
            <a:spLocks noGrp="1"/>
          </p:cNvSpPr>
          <p:nvPr>
            <p:ph type="title"/>
          </p:nvPr>
        </p:nvSpPr>
        <p:spPr>
          <a:xfrm>
            <a:off x="1198180" y="726067"/>
            <a:ext cx="9774619" cy="716972"/>
          </a:xfrm>
        </p:spPr>
        <p:txBody>
          <a:bodyPr anchor="b">
            <a:normAutofit fontScale="90000"/>
          </a:bodyPr>
          <a:lstStyle/>
          <a:p>
            <a:pPr algn="ctr"/>
            <a:r>
              <a:rPr lang="en-US" dirty="0">
                <a:solidFill>
                  <a:srgbClr val="FFFFFF"/>
                </a:solidFill>
              </a:rPr>
              <a:t>Closeness Centrality</a:t>
            </a:r>
          </a:p>
        </p:txBody>
      </p:sp>
      <p:sp>
        <p:nvSpPr>
          <p:cNvPr id="16" name="Content Placeholder 15">
            <a:extLst>
              <a:ext uri="{FF2B5EF4-FFF2-40B4-BE49-F238E27FC236}">
                <a16:creationId xmlns:a16="http://schemas.microsoft.com/office/drawing/2014/main" id="{0604DEF5-55F6-0340-8265-FB33C1E93E28}"/>
              </a:ext>
            </a:extLst>
          </p:cNvPr>
          <p:cNvSpPr>
            <a:spLocks noGrp="1"/>
          </p:cNvSpPr>
          <p:nvPr>
            <p:ph idx="1"/>
          </p:nvPr>
        </p:nvSpPr>
        <p:spPr/>
        <p:txBody>
          <a:bodyPr>
            <a:normAutofit/>
          </a:bodyPr>
          <a:lstStyle/>
          <a:p>
            <a:r>
              <a:rPr lang="en-US" sz="2000" dirty="0">
                <a:solidFill>
                  <a:schemeClr val="bg1"/>
                </a:solidFill>
              </a:rPr>
              <a:t>Amoneyresists, randapaul, dwinfrey731 have the highest closeness centrality.</a:t>
            </a:r>
          </a:p>
        </p:txBody>
      </p:sp>
      <p:pic>
        <p:nvPicPr>
          <p:cNvPr id="20" name="Picture 19" descr="Table&#10;&#10;Description automatically generated">
            <a:extLst>
              <a:ext uri="{FF2B5EF4-FFF2-40B4-BE49-F238E27FC236}">
                <a16:creationId xmlns:a16="http://schemas.microsoft.com/office/drawing/2014/main" id="{ECD056A0-E49B-1248-80B6-79C041C61777}"/>
              </a:ext>
            </a:extLst>
          </p:cNvPr>
          <p:cNvPicPr>
            <a:picLocks noChangeAspect="1"/>
          </p:cNvPicPr>
          <p:nvPr/>
        </p:nvPicPr>
        <p:blipFill>
          <a:blip r:embed="rId5"/>
          <a:stretch>
            <a:fillRect/>
          </a:stretch>
        </p:blipFill>
        <p:spPr>
          <a:xfrm>
            <a:off x="2351919" y="2881129"/>
            <a:ext cx="6633435" cy="2395407"/>
          </a:xfrm>
          <a:prstGeom prst="rect">
            <a:avLst/>
          </a:prstGeom>
        </p:spPr>
      </p:pic>
    </p:spTree>
    <p:extLst>
      <p:ext uri="{BB962C8B-B14F-4D97-AF65-F5344CB8AC3E}">
        <p14:creationId xmlns:p14="http://schemas.microsoft.com/office/powerpoint/2010/main" val="552992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12">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4">
            <a:extLst>
              <a:ext uri="{FF2B5EF4-FFF2-40B4-BE49-F238E27FC236}">
                <a16:creationId xmlns:a16="http://schemas.microsoft.com/office/drawing/2014/main" id="{A905C581-3E86-4ADD-9EDD-5FA87B461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6"/>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D3127BE9-69CD-D748-A030-B172939CB9D3}"/>
              </a:ext>
            </a:extLst>
          </p:cNvPr>
          <p:cNvPicPr>
            <a:picLocks noChangeAspect="1"/>
          </p:cNvPicPr>
          <p:nvPr/>
        </p:nvPicPr>
        <p:blipFill rotWithShape="1">
          <a:blip r:embed="rId2">
            <a:alphaModFix amt="60000"/>
          </a:blip>
          <a:srcRect r="-1" b="6244"/>
          <a:stretch/>
        </p:blipFill>
        <p:spPr>
          <a:xfrm>
            <a:off x="20" y="10"/>
            <a:ext cx="12188932" cy="6856614"/>
          </a:xfrm>
          <a:prstGeom prst="rect">
            <a:avLst/>
          </a:prstGeom>
        </p:spPr>
      </p:pic>
      <p:grpSp>
        <p:nvGrpSpPr>
          <p:cNvPr id="17" name="Group 16">
            <a:extLst>
              <a:ext uri="{FF2B5EF4-FFF2-40B4-BE49-F238E27FC236}">
                <a16:creationId xmlns:a16="http://schemas.microsoft.com/office/drawing/2014/main" id="{A4672714-67D2-40D0-B961-A7438FE9C9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0"/>
            <a:ext cx="7724071" cy="6858000"/>
            <a:chOff x="4464881" y="0"/>
            <a:chExt cx="7724071" cy="6858000"/>
          </a:xfrm>
        </p:grpSpPr>
        <p:pic>
          <p:nvPicPr>
            <p:cNvPr id="18" name="Picture 17">
              <a:extLst>
                <a:ext uri="{FF2B5EF4-FFF2-40B4-BE49-F238E27FC236}">
                  <a16:creationId xmlns:a16="http://schemas.microsoft.com/office/drawing/2014/main" id="{A5A1C471-1402-4BD1-8617-F5D9B7EB198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2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19" name="Picture 18">
              <a:extLst>
                <a:ext uri="{FF2B5EF4-FFF2-40B4-BE49-F238E27FC236}">
                  <a16:creationId xmlns:a16="http://schemas.microsoft.com/office/drawing/2014/main" id="{6CCA9701-8B9C-4D7A-AE5B-DD505C96800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10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5" name="Title 4">
            <a:extLst>
              <a:ext uri="{FF2B5EF4-FFF2-40B4-BE49-F238E27FC236}">
                <a16:creationId xmlns:a16="http://schemas.microsoft.com/office/drawing/2014/main" id="{760A61E1-D5C3-1442-B857-F7BBA1CCE62D}"/>
              </a:ext>
            </a:extLst>
          </p:cNvPr>
          <p:cNvSpPr>
            <a:spLocks noGrp="1"/>
          </p:cNvSpPr>
          <p:nvPr>
            <p:ph type="title"/>
          </p:nvPr>
        </p:nvSpPr>
        <p:spPr>
          <a:xfrm>
            <a:off x="1198180" y="726067"/>
            <a:ext cx="9774619" cy="716972"/>
          </a:xfrm>
        </p:spPr>
        <p:txBody>
          <a:bodyPr anchor="b">
            <a:normAutofit fontScale="90000"/>
          </a:bodyPr>
          <a:lstStyle/>
          <a:p>
            <a:pPr algn="ctr"/>
            <a:r>
              <a:rPr lang="en-US" dirty="0">
                <a:solidFill>
                  <a:srgbClr val="FFFFFF"/>
                </a:solidFill>
              </a:rPr>
              <a:t>Eigen Vector Centrality</a:t>
            </a:r>
          </a:p>
        </p:txBody>
      </p:sp>
      <p:sp>
        <p:nvSpPr>
          <p:cNvPr id="6" name="Content Placeholder 5">
            <a:extLst>
              <a:ext uri="{FF2B5EF4-FFF2-40B4-BE49-F238E27FC236}">
                <a16:creationId xmlns:a16="http://schemas.microsoft.com/office/drawing/2014/main" id="{EDFD8BAC-CAA4-774A-B80B-AC9CE1FB2463}"/>
              </a:ext>
            </a:extLst>
          </p:cNvPr>
          <p:cNvSpPr>
            <a:spLocks noGrp="1"/>
          </p:cNvSpPr>
          <p:nvPr>
            <p:ph idx="1"/>
          </p:nvPr>
        </p:nvSpPr>
        <p:spPr>
          <a:xfrm>
            <a:off x="1219202" y="1700214"/>
            <a:ext cx="9954076" cy="1117938"/>
          </a:xfrm>
        </p:spPr>
        <p:txBody>
          <a:bodyPr anchor="ctr">
            <a:normAutofit/>
          </a:bodyPr>
          <a:lstStyle/>
          <a:p>
            <a:pPr marL="342900" indent="-342900">
              <a:buAutoNum type="arabicPeriod"/>
            </a:pPr>
            <a:r>
              <a:rPr lang="en-US" sz="1800" dirty="0">
                <a:solidFill>
                  <a:srgbClr val="FFFFFF"/>
                </a:solidFill>
              </a:rPr>
              <a:t>1. amoneyresists, politicalblond, cyn7507 have the highest eigen vector centrality.</a:t>
            </a:r>
          </a:p>
          <a:p>
            <a:pPr marL="342900" indent="-342900">
              <a:buAutoNum type="arabicPeriod"/>
            </a:pPr>
            <a:endParaRPr lang="en-US" sz="1800" dirty="0">
              <a:solidFill>
                <a:srgbClr val="FFFFFF"/>
              </a:solidFill>
            </a:endParaRPr>
          </a:p>
        </p:txBody>
      </p:sp>
      <p:pic>
        <p:nvPicPr>
          <p:cNvPr id="9" name="Picture 8" descr="Table&#10;&#10;Description automatically generated">
            <a:extLst>
              <a:ext uri="{FF2B5EF4-FFF2-40B4-BE49-F238E27FC236}">
                <a16:creationId xmlns:a16="http://schemas.microsoft.com/office/drawing/2014/main" id="{ABFEC020-8AC3-DC48-B93D-6C4EA6A4CDE2}"/>
              </a:ext>
            </a:extLst>
          </p:cNvPr>
          <p:cNvPicPr>
            <a:picLocks noChangeAspect="1"/>
          </p:cNvPicPr>
          <p:nvPr/>
        </p:nvPicPr>
        <p:blipFill>
          <a:blip r:embed="rId5"/>
          <a:stretch>
            <a:fillRect/>
          </a:stretch>
        </p:blipFill>
        <p:spPr>
          <a:xfrm>
            <a:off x="2946296" y="2685242"/>
            <a:ext cx="5770356" cy="2107263"/>
          </a:xfrm>
          <a:prstGeom prst="rect">
            <a:avLst/>
          </a:prstGeom>
        </p:spPr>
      </p:pic>
    </p:spTree>
    <p:extLst>
      <p:ext uri="{BB962C8B-B14F-4D97-AF65-F5344CB8AC3E}">
        <p14:creationId xmlns:p14="http://schemas.microsoft.com/office/powerpoint/2010/main" val="4168843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12">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4">
            <a:extLst>
              <a:ext uri="{FF2B5EF4-FFF2-40B4-BE49-F238E27FC236}">
                <a16:creationId xmlns:a16="http://schemas.microsoft.com/office/drawing/2014/main" id="{A905C581-3E86-4ADD-9EDD-5FA87B461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6"/>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D3127BE9-69CD-D748-A030-B172939CB9D3}"/>
              </a:ext>
            </a:extLst>
          </p:cNvPr>
          <p:cNvPicPr>
            <a:picLocks noChangeAspect="1"/>
          </p:cNvPicPr>
          <p:nvPr/>
        </p:nvPicPr>
        <p:blipFill rotWithShape="1">
          <a:blip r:embed="rId2">
            <a:alphaModFix amt="60000"/>
          </a:blip>
          <a:srcRect r="-1" b="6244"/>
          <a:stretch/>
        </p:blipFill>
        <p:spPr>
          <a:xfrm>
            <a:off x="20" y="10"/>
            <a:ext cx="12188932" cy="6856614"/>
          </a:xfrm>
          <a:prstGeom prst="rect">
            <a:avLst/>
          </a:prstGeom>
        </p:spPr>
      </p:pic>
      <p:grpSp>
        <p:nvGrpSpPr>
          <p:cNvPr id="17" name="Group 16">
            <a:extLst>
              <a:ext uri="{FF2B5EF4-FFF2-40B4-BE49-F238E27FC236}">
                <a16:creationId xmlns:a16="http://schemas.microsoft.com/office/drawing/2014/main" id="{A4672714-67D2-40D0-B961-A7438FE9C9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0"/>
            <a:ext cx="7724071" cy="6858000"/>
            <a:chOff x="4464881" y="0"/>
            <a:chExt cx="7724071" cy="6858000"/>
          </a:xfrm>
        </p:grpSpPr>
        <p:pic>
          <p:nvPicPr>
            <p:cNvPr id="18" name="Picture 17">
              <a:extLst>
                <a:ext uri="{FF2B5EF4-FFF2-40B4-BE49-F238E27FC236}">
                  <a16:creationId xmlns:a16="http://schemas.microsoft.com/office/drawing/2014/main" id="{A5A1C471-1402-4BD1-8617-F5D9B7EB198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2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19" name="Picture 18">
              <a:extLst>
                <a:ext uri="{FF2B5EF4-FFF2-40B4-BE49-F238E27FC236}">
                  <a16:creationId xmlns:a16="http://schemas.microsoft.com/office/drawing/2014/main" id="{6CCA9701-8B9C-4D7A-AE5B-DD505C96800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10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5" name="Title 4">
            <a:extLst>
              <a:ext uri="{FF2B5EF4-FFF2-40B4-BE49-F238E27FC236}">
                <a16:creationId xmlns:a16="http://schemas.microsoft.com/office/drawing/2014/main" id="{760A61E1-D5C3-1442-B857-F7BBA1CCE62D}"/>
              </a:ext>
            </a:extLst>
          </p:cNvPr>
          <p:cNvSpPr>
            <a:spLocks noGrp="1"/>
          </p:cNvSpPr>
          <p:nvPr>
            <p:ph type="title"/>
          </p:nvPr>
        </p:nvSpPr>
        <p:spPr>
          <a:xfrm>
            <a:off x="1198180" y="726067"/>
            <a:ext cx="9774619" cy="716972"/>
          </a:xfrm>
        </p:spPr>
        <p:txBody>
          <a:bodyPr anchor="b">
            <a:normAutofit fontScale="90000"/>
          </a:bodyPr>
          <a:lstStyle/>
          <a:p>
            <a:pPr algn="ctr"/>
            <a:r>
              <a:rPr lang="en-US" dirty="0">
                <a:solidFill>
                  <a:srgbClr val="FFFFFF"/>
                </a:solidFill>
              </a:rPr>
              <a:t>Topic Modelling</a:t>
            </a:r>
          </a:p>
        </p:txBody>
      </p:sp>
      <p:sp>
        <p:nvSpPr>
          <p:cNvPr id="6" name="Content Placeholder 5">
            <a:extLst>
              <a:ext uri="{FF2B5EF4-FFF2-40B4-BE49-F238E27FC236}">
                <a16:creationId xmlns:a16="http://schemas.microsoft.com/office/drawing/2014/main" id="{EDFD8BAC-CAA4-774A-B80B-AC9CE1FB2463}"/>
              </a:ext>
            </a:extLst>
          </p:cNvPr>
          <p:cNvSpPr>
            <a:spLocks noGrp="1"/>
          </p:cNvSpPr>
          <p:nvPr>
            <p:ph idx="1"/>
          </p:nvPr>
        </p:nvSpPr>
        <p:spPr>
          <a:xfrm>
            <a:off x="1219202" y="1700213"/>
            <a:ext cx="9954076" cy="4243387"/>
          </a:xfrm>
        </p:spPr>
        <p:txBody>
          <a:bodyPr anchor="ctr">
            <a:normAutofit/>
          </a:bodyPr>
          <a:lstStyle/>
          <a:p>
            <a:r>
              <a:rPr lang="en-US" sz="1800" dirty="0">
                <a:solidFill>
                  <a:srgbClr val="FFFFFF"/>
                </a:solidFill>
              </a:rPr>
              <a:t>1 Data : Twitter data.</a:t>
            </a:r>
          </a:p>
          <a:p>
            <a:r>
              <a:rPr lang="en-US" sz="1800" dirty="0">
                <a:solidFill>
                  <a:srgbClr val="FFFFFF"/>
                </a:solidFill>
              </a:rPr>
              <a:t>2. 7918 tweets analyzed.</a:t>
            </a:r>
          </a:p>
          <a:p>
            <a:r>
              <a:rPr lang="en-US" sz="1800" dirty="0">
                <a:solidFill>
                  <a:srgbClr val="FFFFFF"/>
                </a:solidFill>
              </a:rPr>
              <a:t>3. Cleaned data.</a:t>
            </a:r>
          </a:p>
          <a:p>
            <a:r>
              <a:rPr lang="en-US" sz="1800" dirty="0">
                <a:solidFill>
                  <a:srgbClr val="FFFFFF"/>
                </a:solidFill>
              </a:rPr>
              <a:t>4. Created a data that can be an input for LDA.</a:t>
            </a:r>
          </a:p>
          <a:p>
            <a:r>
              <a:rPr lang="en-US" sz="1800" dirty="0">
                <a:solidFill>
                  <a:srgbClr val="FFFFFF"/>
                </a:solidFill>
              </a:rPr>
              <a:t>5. Computed coherence score.</a:t>
            </a:r>
          </a:p>
          <a:p>
            <a:r>
              <a:rPr lang="en-US" sz="1800" dirty="0">
                <a:solidFill>
                  <a:srgbClr val="FFFFFF"/>
                </a:solidFill>
              </a:rPr>
              <a:t>6. We could identify 19 topics with the use of LDA we would be analyzing highest frequent       topics ahead.</a:t>
            </a:r>
          </a:p>
        </p:txBody>
      </p:sp>
    </p:spTree>
    <p:extLst>
      <p:ext uri="{BB962C8B-B14F-4D97-AF65-F5344CB8AC3E}">
        <p14:creationId xmlns:p14="http://schemas.microsoft.com/office/powerpoint/2010/main" val="3727415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12">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4">
            <a:extLst>
              <a:ext uri="{FF2B5EF4-FFF2-40B4-BE49-F238E27FC236}">
                <a16:creationId xmlns:a16="http://schemas.microsoft.com/office/drawing/2014/main" id="{A905C581-3E86-4ADD-9EDD-5FA87B461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6"/>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D3127BE9-69CD-D748-A030-B172939CB9D3}"/>
              </a:ext>
            </a:extLst>
          </p:cNvPr>
          <p:cNvPicPr>
            <a:picLocks noChangeAspect="1"/>
          </p:cNvPicPr>
          <p:nvPr/>
        </p:nvPicPr>
        <p:blipFill rotWithShape="1">
          <a:blip r:embed="rId2">
            <a:alphaModFix amt="60000"/>
          </a:blip>
          <a:srcRect r="-1" b="6244"/>
          <a:stretch/>
        </p:blipFill>
        <p:spPr>
          <a:xfrm>
            <a:off x="-8977" y="1386"/>
            <a:ext cx="12188932" cy="6856614"/>
          </a:xfrm>
          <a:prstGeom prst="rect">
            <a:avLst/>
          </a:prstGeom>
        </p:spPr>
      </p:pic>
      <p:grpSp>
        <p:nvGrpSpPr>
          <p:cNvPr id="17" name="Group 16">
            <a:extLst>
              <a:ext uri="{FF2B5EF4-FFF2-40B4-BE49-F238E27FC236}">
                <a16:creationId xmlns:a16="http://schemas.microsoft.com/office/drawing/2014/main" id="{A4672714-67D2-40D0-B961-A7438FE9C9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0"/>
            <a:ext cx="7724071" cy="6858000"/>
            <a:chOff x="4464881" y="0"/>
            <a:chExt cx="7724071" cy="6858000"/>
          </a:xfrm>
        </p:grpSpPr>
        <p:pic>
          <p:nvPicPr>
            <p:cNvPr id="18" name="Picture 17">
              <a:extLst>
                <a:ext uri="{FF2B5EF4-FFF2-40B4-BE49-F238E27FC236}">
                  <a16:creationId xmlns:a16="http://schemas.microsoft.com/office/drawing/2014/main" id="{A5A1C471-1402-4BD1-8617-F5D9B7EB198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2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19" name="Picture 18">
              <a:extLst>
                <a:ext uri="{FF2B5EF4-FFF2-40B4-BE49-F238E27FC236}">
                  <a16:creationId xmlns:a16="http://schemas.microsoft.com/office/drawing/2014/main" id="{6CCA9701-8B9C-4D7A-AE5B-DD505C96800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10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5" name="Title 4">
            <a:extLst>
              <a:ext uri="{FF2B5EF4-FFF2-40B4-BE49-F238E27FC236}">
                <a16:creationId xmlns:a16="http://schemas.microsoft.com/office/drawing/2014/main" id="{760A61E1-D5C3-1442-B857-F7BBA1CCE62D}"/>
              </a:ext>
            </a:extLst>
          </p:cNvPr>
          <p:cNvSpPr>
            <a:spLocks noGrp="1"/>
          </p:cNvSpPr>
          <p:nvPr>
            <p:ph type="title"/>
          </p:nvPr>
        </p:nvSpPr>
        <p:spPr>
          <a:xfrm>
            <a:off x="1198180" y="726067"/>
            <a:ext cx="9774619" cy="716972"/>
          </a:xfrm>
        </p:spPr>
        <p:txBody>
          <a:bodyPr anchor="b">
            <a:normAutofit fontScale="90000"/>
          </a:bodyPr>
          <a:lstStyle/>
          <a:p>
            <a:pPr algn="ctr"/>
            <a:r>
              <a:rPr lang="en-US" dirty="0">
                <a:solidFill>
                  <a:srgbClr val="FFFFFF"/>
                </a:solidFill>
              </a:rPr>
              <a:t>Topic 1</a:t>
            </a:r>
          </a:p>
        </p:txBody>
      </p:sp>
      <p:sp>
        <p:nvSpPr>
          <p:cNvPr id="6" name="Content Placeholder 5">
            <a:extLst>
              <a:ext uri="{FF2B5EF4-FFF2-40B4-BE49-F238E27FC236}">
                <a16:creationId xmlns:a16="http://schemas.microsoft.com/office/drawing/2014/main" id="{EDFD8BAC-CAA4-774A-B80B-AC9CE1FB2463}"/>
              </a:ext>
            </a:extLst>
          </p:cNvPr>
          <p:cNvSpPr>
            <a:spLocks noGrp="1"/>
          </p:cNvSpPr>
          <p:nvPr>
            <p:ph idx="1"/>
          </p:nvPr>
        </p:nvSpPr>
        <p:spPr>
          <a:xfrm>
            <a:off x="220866" y="1595282"/>
            <a:ext cx="3712562" cy="4431719"/>
          </a:xfrm>
        </p:spPr>
        <p:txBody>
          <a:bodyPr anchor="ctr">
            <a:normAutofit/>
          </a:bodyPr>
          <a:lstStyle/>
          <a:p>
            <a:pPr marL="342900"/>
            <a:r>
              <a:rPr lang="en-US" sz="1800" dirty="0">
                <a:solidFill>
                  <a:schemeClr val="bg1"/>
                </a:solidFill>
              </a:rPr>
              <a:t>17.1% tokens were used in topic 1</a:t>
            </a:r>
          </a:p>
          <a:p>
            <a:pPr marL="342900"/>
            <a:r>
              <a:rPr lang="en-US" sz="1800" dirty="0">
                <a:solidFill>
                  <a:schemeClr val="bg1"/>
                </a:solidFill>
              </a:rPr>
              <a:t>People, even, want, year, must , go,  call, get, right, invasion. </a:t>
            </a:r>
          </a:p>
          <a:p>
            <a:pPr marL="342900"/>
            <a:r>
              <a:rPr lang="en-US" sz="1800" dirty="0">
                <a:solidFill>
                  <a:schemeClr val="bg1"/>
                </a:solidFill>
              </a:rPr>
              <a:t>These are the highest used words in topic 1.</a:t>
            </a:r>
          </a:p>
          <a:p>
            <a:pPr marL="342900" indent="-342900">
              <a:buAutoNum type="arabicPeriod"/>
            </a:pPr>
            <a:endParaRPr lang="en-US" sz="1800" dirty="0">
              <a:solidFill>
                <a:srgbClr val="FFFFFF"/>
              </a:solidFill>
            </a:endParaRPr>
          </a:p>
        </p:txBody>
      </p:sp>
      <p:pic>
        <p:nvPicPr>
          <p:cNvPr id="13" name="Content Placeholder 8" descr="Chart, bubble chart&#10;&#10;Description automatically generated">
            <a:extLst>
              <a:ext uri="{FF2B5EF4-FFF2-40B4-BE49-F238E27FC236}">
                <a16:creationId xmlns:a16="http://schemas.microsoft.com/office/drawing/2014/main" id="{D908DAFC-B77C-9644-A9E3-7B6280624E41}"/>
              </a:ext>
            </a:extLst>
          </p:cNvPr>
          <p:cNvPicPr>
            <a:picLocks noChangeAspect="1"/>
          </p:cNvPicPr>
          <p:nvPr/>
        </p:nvPicPr>
        <p:blipFill>
          <a:blip r:embed="rId5"/>
          <a:stretch>
            <a:fillRect/>
          </a:stretch>
        </p:blipFill>
        <p:spPr>
          <a:xfrm>
            <a:off x="4047063" y="1888762"/>
            <a:ext cx="7874923" cy="3897442"/>
          </a:xfrm>
          <a:prstGeom prst="rect">
            <a:avLst/>
          </a:prstGeom>
        </p:spPr>
      </p:pic>
    </p:spTree>
    <p:extLst>
      <p:ext uri="{BB962C8B-B14F-4D97-AF65-F5344CB8AC3E}">
        <p14:creationId xmlns:p14="http://schemas.microsoft.com/office/powerpoint/2010/main" val="2038206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12">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4">
            <a:extLst>
              <a:ext uri="{FF2B5EF4-FFF2-40B4-BE49-F238E27FC236}">
                <a16:creationId xmlns:a16="http://schemas.microsoft.com/office/drawing/2014/main" id="{A905C581-3E86-4ADD-9EDD-5FA87B461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6"/>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D3127BE9-69CD-D748-A030-B172939CB9D3}"/>
              </a:ext>
            </a:extLst>
          </p:cNvPr>
          <p:cNvPicPr>
            <a:picLocks noChangeAspect="1"/>
          </p:cNvPicPr>
          <p:nvPr/>
        </p:nvPicPr>
        <p:blipFill rotWithShape="1">
          <a:blip r:embed="rId2">
            <a:alphaModFix amt="60000"/>
          </a:blip>
          <a:srcRect r="-1" b="6244"/>
          <a:stretch/>
        </p:blipFill>
        <p:spPr>
          <a:xfrm>
            <a:off x="-8977" y="1386"/>
            <a:ext cx="12188932" cy="6856614"/>
          </a:xfrm>
          <a:prstGeom prst="rect">
            <a:avLst/>
          </a:prstGeom>
        </p:spPr>
      </p:pic>
      <p:grpSp>
        <p:nvGrpSpPr>
          <p:cNvPr id="17" name="Group 16">
            <a:extLst>
              <a:ext uri="{FF2B5EF4-FFF2-40B4-BE49-F238E27FC236}">
                <a16:creationId xmlns:a16="http://schemas.microsoft.com/office/drawing/2014/main" id="{A4672714-67D2-40D0-B961-A7438FE9C9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0"/>
            <a:ext cx="7724071" cy="6858000"/>
            <a:chOff x="4464881" y="0"/>
            <a:chExt cx="7724071" cy="6858000"/>
          </a:xfrm>
        </p:grpSpPr>
        <p:pic>
          <p:nvPicPr>
            <p:cNvPr id="18" name="Picture 17">
              <a:extLst>
                <a:ext uri="{FF2B5EF4-FFF2-40B4-BE49-F238E27FC236}">
                  <a16:creationId xmlns:a16="http://schemas.microsoft.com/office/drawing/2014/main" id="{A5A1C471-1402-4BD1-8617-F5D9B7EB198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2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19" name="Picture 18">
              <a:extLst>
                <a:ext uri="{FF2B5EF4-FFF2-40B4-BE49-F238E27FC236}">
                  <a16:creationId xmlns:a16="http://schemas.microsoft.com/office/drawing/2014/main" id="{6CCA9701-8B9C-4D7A-AE5B-DD505C96800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10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5" name="Title 4">
            <a:extLst>
              <a:ext uri="{FF2B5EF4-FFF2-40B4-BE49-F238E27FC236}">
                <a16:creationId xmlns:a16="http://schemas.microsoft.com/office/drawing/2014/main" id="{760A61E1-D5C3-1442-B857-F7BBA1CCE62D}"/>
              </a:ext>
            </a:extLst>
          </p:cNvPr>
          <p:cNvSpPr>
            <a:spLocks noGrp="1"/>
          </p:cNvSpPr>
          <p:nvPr>
            <p:ph type="title"/>
          </p:nvPr>
        </p:nvSpPr>
        <p:spPr>
          <a:xfrm>
            <a:off x="1198180" y="726067"/>
            <a:ext cx="9774619" cy="716972"/>
          </a:xfrm>
        </p:spPr>
        <p:txBody>
          <a:bodyPr anchor="b">
            <a:normAutofit fontScale="90000"/>
          </a:bodyPr>
          <a:lstStyle/>
          <a:p>
            <a:pPr algn="ctr"/>
            <a:r>
              <a:rPr lang="en-US" dirty="0">
                <a:solidFill>
                  <a:srgbClr val="FFFFFF"/>
                </a:solidFill>
              </a:rPr>
              <a:t>Topic 2</a:t>
            </a:r>
          </a:p>
        </p:txBody>
      </p:sp>
      <p:sp>
        <p:nvSpPr>
          <p:cNvPr id="6" name="Content Placeholder 5">
            <a:extLst>
              <a:ext uri="{FF2B5EF4-FFF2-40B4-BE49-F238E27FC236}">
                <a16:creationId xmlns:a16="http://schemas.microsoft.com/office/drawing/2014/main" id="{EDFD8BAC-CAA4-774A-B80B-AC9CE1FB2463}"/>
              </a:ext>
            </a:extLst>
          </p:cNvPr>
          <p:cNvSpPr>
            <a:spLocks noGrp="1"/>
          </p:cNvSpPr>
          <p:nvPr>
            <p:ph idx="1"/>
          </p:nvPr>
        </p:nvSpPr>
        <p:spPr>
          <a:xfrm>
            <a:off x="220866" y="1595282"/>
            <a:ext cx="3712562" cy="4431719"/>
          </a:xfrm>
        </p:spPr>
        <p:txBody>
          <a:bodyPr anchor="ctr">
            <a:normAutofit/>
          </a:bodyPr>
          <a:lstStyle/>
          <a:p>
            <a:pPr marL="342900"/>
            <a:r>
              <a:rPr lang="en-US" sz="1800" dirty="0">
                <a:solidFill>
                  <a:schemeClr val="bg1"/>
                </a:solidFill>
              </a:rPr>
              <a:t>12.4% tokens used in topic 2.</a:t>
            </a:r>
          </a:p>
          <a:p>
            <a:pPr marL="342900"/>
            <a:r>
              <a:rPr lang="en-US" sz="1800" dirty="0">
                <a:solidFill>
                  <a:schemeClr val="bg1"/>
                </a:solidFill>
              </a:rPr>
              <a:t>Would, suck, block, country, crime, need, attack, military, work, today.</a:t>
            </a:r>
          </a:p>
          <a:p>
            <a:pPr marL="342900"/>
            <a:r>
              <a:rPr lang="en-US" sz="1800" dirty="0">
                <a:solidFill>
                  <a:schemeClr val="bg1"/>
                </a:solidFill>
              </a:rPr>
              <a:t>These were the words used in topic 3.</a:t>
            </a:r>
          </a:p>
          <a:p>
            <a:pPr marL="342900" indent="-342900">
              <a:buAutoNum type="arabicPeriod"/>
            </a:pPr>
            <a:endParaRPr lang="en-US" sz="1800" dirty="0">
              <a:solidFill>
                <a:srgbClr val="FFFFFF"/>
              </a:solidFill>
            </a:endParaRPr>
          </a:p>
        </p:txBody>
      </p:sp>
      <p:pic>
        <p:nvPicPr>
          <p:cNvPr id="14" name="Content Placeholder 8" descr="Chart&#10;&#10;Description automatically generated">
            <a:extLst>
              <a:ext uri="{FF2B5EF4-FFF2-40B4-BE49-F238E27FC236}">
                <a16:creationId xmlns:a16="http://schemas.microsoft.com/office/drawing/2014/main" id="{B19AC1D6-FE34-A247-84E8-E56274833664}"/>
              </a:ext>
            </a:extLst>
          </p:cNvPr>
          <p:cNvPicPr>
            <a:picLocks noChangeAspect="1"/>
          </p:cNvPicPr>
          <p:nvPr/>
        </p:nvPicPr>
        <p:blipFill>
          <a:blip r:embed="rId5"/>
          <a:stretch>
            <a:fillRect/>
          </a:stretch>
        </p:blipFill>
        <p:spPr>
          <a:xfrm>
            <a:off x="4194867" y="1708879"/>
            <a:ext cx="7572411" cy="4269852"/>
          </a:xfrm>
          <a:prstGeom prst="rect">
            <a:avLst/>
          </a:prstGeom>
        </p:spPr>
      </p:pic>
    </p:spTree>
    <p:extLst>
      <p:ext uri="{BB962C8B-B14F-4D97-AF65-F5344CB8AC3E}">
        <p14:creationId xmlns:p14="http://schemas.microsoft.com/office/powerpoint/2010/main" val="3326650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12">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4">
            <a:extLst>
              <a:ext uri="{FF2B5EF4-FFF2-40B4-BE49-F238E27FC236}">
                <a16:creationId xmlns:a16="http://schemas.microsoft.com/office/drawing/2014/main" id="{A905C581-3E86-4ADD-9EDD-5FA87B461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6"/>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D3127BE9-69CD-D748-A030-B172939CB9D3}"/>
              </a:ext>
            </a:extLst>
          </p:cNvPr>
          <p:cNvPicPr>
            <a:picLocks noChangeAspect="1"/>
          </p:cNvPicPr>
          <p:nvPr/>
        </p:nvPicPr>
        <p:blipFill rotWithShape="1">
          <a:blip r:embed="rId2">
            <a:alphaModFix amt="60000"/>
          </a:blip>
          <a:srcRect r="-1" b="6244"/>
          <a:stretch/>
        </p:blipFill>
        <p:spPr>
          <a:xfrm>
            <a:off x="-8977" y="1386"/>
            <a:ext cx="12188932" cy="6856614"/>
          </a:xfrm>
          <a:prstGeom prst="rect">
            <a:avLst/>
          </a:prstGeom>
        </p:spPr>
      </p:pic>
      <p:grpSp>
        <p:nvGrpSpPr>
          <p:cNvPr id="17" name="Group 16">
            <a:extLst>
              <a:ext uri="{FF2B5EF4-FFF2-40B4-BE49-F238E27FC236}">
                <a16:creationId xmlns:a16="http://schemas.microsoft.com/office/drawing/2014/main" id="{A4672714-67D2-40D0-B961-A7438FE9C9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0"/>
            <a:ext cx="7724071" cy="6858000"/>
            <a:chOff x="4464881" y="0"/>
            <a:chExt cx="7724071" cy="6858000"/>
          </a:xfrm>
        </p:grpSpPr>
        <p:pic>
          <p:nvPicPr>
            <p:cNvPr id="18" name="Picture 17">
              <a:extLst>
                <a:ext uri="{FF2B5EF4-FFF2-40B4-BE49-F238E27FC236}">
                  <a16:creationId xmlns:a16="http://schemas.microsoft.com/office/drawing/2014/main" id="{A5A1C471-1402-4BD1-8617-F5D9B7EB198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2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19" name="Picture 18">
              <a:extLst>
                <a:ext uri="{FF2B5EF4-FFF2-40B4-BE49-F238E27FC236}">
                  <a16:creationId xmlns:a16="http://schemas.microsoft.com/office/drawing/2014/main" id="{6CCA9701-8B9C-4D7A-AE5B-DD505C96800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10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5" name="Title 4">
            <a:extLst>
              <a:ext uri="{FF2B5EF4-FFF2-40B4-BE49-F238E27FC236}">
                <a16:creationId xmlns:a16="http://schemas.microsoft.com/office/drawing/2014/main" id="{760A61E1-D5C3-1442-B857-F7BBA1CCE62D}"/>
              </a:ext>
            </a:extLst>
          </p:cNvPr>
          <p:cNvSpPr>
            <a:spLocks noGrp="1"/>
          </p:cNvSpPr>
          <p:nvPr>
            <p:ph type="title"/>
          </p:nvPr>
        </p:nvSpPr>
        <p:spPr>
          <a:xfrm>
            <a:off x="1198180" y="726067"/>
            <a:ext cx="9774619" cy="716972"/>
          </a:xfrm>
        </p:spPr>
        <p:txBody>
          <a:bodyPr anchor="b">
            <a:normAutofit fontScale="90000"/>
          </a:bodyPr>
          <a:lstStyle/>
          <a:p>
            <a:pPr algn="ctr"/>
            <a:r>
              <a:rPr lang="en-US" dirty="0">
                <a:solidFill>
                  <a:srgbClr val="FFFFFF"/>
                </a:solidFill>
              </a:rPr>
              <a:t>Coherence score	</a:t>
            </a:r>
          </a:p>
        </p:txBody>
      </p:sp>
      <p:sp>
        <p:nvSpPr>
          <p:cNvPr id="6" name="Content Placeholder 5">
            <a:extLst>
              <a:ext uri="{FF2B5EF4-FFF2-40B4-BE49-F238E27FC236}">
                <a16:creationId xmlns:a16="http://schemas.microsoft.com/office/drawing/2014/main" id="{EDFD8BAC-CAA4-774A-B80B-AC9CE1FB2463}"/>
              </a:ext>
            </a:extLst>
          </p:cNvPr>
          <p:cNvSpPr>
            <a:spLocks noGrp="1"/>
          </p:cNvSpPr>
          <p:nvPr>
            <p:ph idx="1"/>
          </p:nvPr>
        </p:nvSpPr>
        <p:spPr>
          <a:xfrm>
            <a:off x="220866" y="1595283"/>
            <a:ext cx="11710098" cy="3967316"/>
          </a:xfrm>
        </p:spPr>
        <p:txBody>
          <a:bodyPr anchor="ctr">
            <a:normAutofit/>
          </a:bodyPr>
          <a:lstStyle/>
          <a:p>
            <a:pPr marL="0" indent="0">
              <a:buNone/>
            </a:pPr>
            <a:r>
              <a:rPr lang="en-IN" sz="2000" dirty="0">
                <a:solidFill>
                  <a:schemeClr val="bg1"/>
                </a:solidFill>
              </a:rPr>
              <a:t>1. Coherence Score: 0.4668966371767018</a:t>
            </a:r>
          </a:p>
          <a:p>
            <a:pPr marL="0" indent="0">
              <a:buNone/>
            </a:pPr>
            <a:r>
              <a:rPr lang="en-IN" sz="2000" dirty="0">
                <a:solidFill>
                  <a:schemeClr val="bg1"/>
                </a:solidFill>
              </a:rPr>
              <a:t>2. Perplexity: -6.868672672789927 </a:t>
            </a:r>
          </a:p>
          <a:p>
            <a:pPr marL="0" indent="0">
              <a:buNone/>
            </a:pPr>
            <a:r>
              <a:rPr lang="en-IN" sz="2000" dirty="0">
                <a:solidFill>
                  <a:schemeClr val="bg1"/>
                </a:solidFill>
              </a:rPr>
              <a:t>3. here we can observe that perplexity is less which is a good sign.</a:t>
            </a:r>
            <a:endParaRPr lang="en-US" sz="2000" dirty="0">
              <a:solidFill>
                <a:schemeClr val="bg1"/>
              </a:solidFill>
            </a:endParaRPr>
          </a:p>
        </p:txBody>
      </p:sp>
    </p:spTree>
    <p:extLst>
      <p:ext uri="{BB962C8B-B14F-4D97-AF65-F5344CB8AC3E}">
        <p14:creationId xmlns:p14="http://schemas.microsoft.com/office/powerpoint/2010/main" val="4044566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12">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4">
            <a:extLst>
              <a:ext uri="{FF2B5EF4-FFF2-40B4-BE49-F238E27FC236}">
                <a16:creationId xmlns:a16="http://schemas.microsoft.com/office/drawing/2014/main" id="{A905C581-3E86-4ADD-9EDD-5FA87B461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6"/>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D3127BE9-69CD-D748-A030-B172939CB9D3}"/>
              </a:ext>
            </a:extLst>
          </p:cNvPr>
          <p:cNvPicPr>
            <a:picLocks noChangeAspect="1"/>
          </p:cNvPicPr>
          <p:nvPr/>
        </p:nvPicPr>
        <p:blipFill rotWithShape="1">
          <a:blip r:embed="rId2">
            <a:alphaModFix amt="60000"/>
          </a:blip>
          <a:srcRect r="-1" b="6244"/>
          <a:stretch/>
        </p:blipFill>
        <p:spPr>
          <a:xfrm>
            <a:off x="-8977" y="1386"/>
            <a:ext cx="12188932" cy="6856614"/>
          </a:xfrm>
          <a:prstGeom prst="rect">
            <a:avLst/>
          </a:prstGeom>
        </p:spPr>
      </p:pic>
      <p:grpSp>
        <p:nvGrpSpPr>
          <p:cNvPr id="17" name="Group 16">
            <a:extLst>
              <a:ext uri="{FF2B5EF4-FFF2-40B4-BE49-F238E27FC236}">
                <a16:creationId xmlns:a16="http://schemas.microsoft.com/office/drawing/2014/main" id="{A4672714-67D2-40D0-B961-A7438FE9C9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0"/>
            <a:ext cx="7724071" cy="6858000"/>
            <a:chOff x="4464881" y="0"/>
            <a:chExt cx="7724071" cy="6858000"/>
          </a:xfrm>
        </p:grpSpPr>
        <p:pic>
          <p:nvPicPr>
            <p:cNvPr id="18" name="Picture 17">
              <a:extLst>
                <a:ext uri="{FF2B5EF4-FFF2-40B4-BE49-F238E27FC236}">
                  <a16:creationId xmlns:a16="http://schemas.microsoft.com/office/drawing/2014/main" id="{A5A1C471-1402-4BD1-8617-F5D9B7EB198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2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19" name="Picture 18">
              <a:extLst>
                <a:ext uri="{FF2B5EF4-FFF2-40B4-BE49-F238E27FC236}">
                  <a16:creationId xmlns:a16="http://schemas.microsoft.com/office/drawing/2014/main" id="{6CCA9701-8B9C-4D7A-AE5B-DD505C96800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10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5" name="Title 4">
            <a:extLst>
              <a:ext uri="{FF2B5EF4-FFF2-40B4-BE49-F238E27FC236}">
                <a16:creationId xmlns:a16="http://schemas.microsoft.com/office/drawing/2014/main" id="{760A61E1-D5C3-1442-B857-F7BBA1CCE62D}"/>
              </a:ext>
            </a:extLst>
          </p:cNvPr>
          <p:cNvSpPr>
            <a:spLocks noGrp="1"/>
          </p:cNvSpPr>
          <p:nvPr>
            <p:ph type="title"/>
          </p:nvPr>
        </p:nvSpPr>
        <p:spPr>
          <a:xfrm>
            <a:off x="1198180" y="726067"/>
            <a:ext cx="9774619" cy="716972"/>
          </a:xfrm>
        </p:spPr>
        <p:txBody>
          <a:bodyPr anchor="b">
            <a:normAutofit fontScale="90000"/>
          </a:bodyPr>
          <a:lstStyle/>
          <a:p>
            <a:pPr algn="ctr"/>
            <a:r>
              <a:rPr lang="en-US" dirty="0">
                <a:solidFill>
                  <a:srgbClr val="FFFFFF"/>
                </a:solidFill>
              </a:rPr>
              <a:t>Topic 3</a:t>
            </a:r>
          </a:p>
        </p:txBody>
      </p:sp>
      <p:sp>
        <p:nvSpPr>
          <p:cNvPr id="6" name="Content Placeholder 5">
            <a:extLst>
              <a:ext uri="{FF2B5EF4-FFF2-40B4-BE49-F238E27FC236}">
                <a16:creationId xmlns:a16="http://schemas.microsoft.com/office/drawing/2014/main" id="{EDFD8BAC-CAA4-774A-B80B-AC9CE1FB2463}"/>
              </a:ext>
            </a:extLst>
          </p:cNvPr>
          <p:cNvSpPr>
            <a:spLocks noGrp="1"/>
          </p:cNvSpPr>
          <p:nvPr>
            <p:ph idx="1"/>
          </p:nvPr>
        </p:nvSpPr>
        <p:spPr>
          <a:xfrm>
            <a:off x="220866" y="1595282"/>
            <a:ext cx="3712562" cy="4431719"/>
          </a:xfrm>
        </p:spPr>
        <p:txBody>
          <a:bodyPr anchor="ctr">
            <a:normAutofit/>
          </a:bodyPr>
          <a:lstStyle/>
          <a:p>
            <a:pPr marL="342900"/>
            <a:r>
              <a:rPr lang="en-US" sz="1800" dirty="0">
                <a:solidFill>
                  <a:schemeClr val="bg1"/>
                </a:solidFill>
              </a:rPr>
              <a:t>12.1% of tokens were used in topic 3.</a:t>
            </a:r>
          </a:p>
          <a:p>
            <a:pPr marL="342900"/>
            <a:r>
              <a:rPr lang="en-US" sz="1800" dirty="0">
                <a:solidFill>
                  <a:schemeClr val="bg1"/>
                </a:solidFill>
              </a:rPr>
              <a:t>Work, say, Ukraine, last, know, package, pass, join, critical, actual.</a:t>
            </a:r>
          </a:p>
          <a:p>
            <a:pPr marL="342900"/>
            <a:r>
              <a:rPr lang="en-US" sz="1800" dirty="0">
                <a:solidFill>
                  <a:schemeClr val="bg1"/>
                </a:solidFill>
              </a:rPr>
              <a:t>These were the words used in topic3. </a:t>
            </a:r>
          </a:p>
          <a:p>
            <a:pPr marL="342900" indent="-342900">
              <a:buAutoNum type="arabicPeriod"/>
            </a:pPr>
            <a:endParaRPr lang="en-US" sz="1800" dirty="0">
              <a:solidFill>
                <a:srgbClr val="FFFFFF"/>
              </a:solidFill>
            </a:endParaRPr>
          </a:p>
        </p:txBody>
      </p:sp>
      <p:pic>
        <p:nvPicPr>
          <p:cNvPr id="14" name="Content Placeholder 8" descr="Chart&#10;&#10;Description automatically generated">
            <a:extLst>
              <a:ext uri="{FF2B5EF4-FFF2-40B4-BE49-F238E27FC236}">
                <a16:creationId xmlns:a16="http://schemas.microsoft.com/office/drawing/2014/main" id="{B19AC1D6-FE34-A247-84E8-E56274833664}"/>
              </a:ext>
            </a:extLst>
          </p:cNvPr>
          <p:cNvPicPr>
            <a:picLocks noChangeAspect="1"/>
          </p:cNvPicPr>
          <p:nvPr/>
        </p:nvPicPr>
        <p:blipFill>
          <a:blip r:embed="rId5"/>
          <a:stretch>
            <a:fillRect/>
          </a:stretch>
        </p:blipFill>
        <p:spPr>
          <a:xfrm>
            <a:off x="4194867" y="1708879"/>
            <a:ext cx="7572411" cy="4269852"/>
          </a:xfrm>
          <a:prstGeom prst="rect">
            <a:avLst/>
          </a:prstGeom>
        </p:spPr>
      </p:pic>
    </p:spTree>
    <p:extLst>
      <p:ext uri="{BB962C8B-B14F-4D97-AF65-F5344CB8AC3E}">
        <p14:creationId xmlns:p14="http://schemas.microsoft.com/office/powerpoint/2010/main" val="7502832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12">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4">
            <a:extLst>
              <a:ext uri="{FF2B5EF4-FFF2-40B4-BE49-F238E27FC236}">
                <a16:creationId xmlns:a16="http://schemas.microsoft.com/office/drawing/2014/main" id="{A905C581-3E86-4ADD-9EDD-5FA87B461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6"/>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D3127BE9-69CD-D748-A030-B172939CB9D3}"/>
              </a:ext>
            </a:extLst>
          </p:cNvPr>
          <p:cNvPicPr>
            <a:picLocks noChangeAspect="1"/>
          </p:cNvPicPr>
          <p:nvPr/>
        </p:nvPicPr>
        <p:blipFill rotWithShape="1">
          <a:blip r:embed="rId2">
            <a:alphaModFix amt="60000"/>
          </a:blip>
          <a:srcRect r="-1" b="6244"/>
          <a:stretch/>
        </p:blipFill>
        <p:spPr>
          <a:xfrm>
            <a:off x="-8977" y="1386"/>
            <a:ext cx="12188932" cy="6856614"/>
          </a:xfrm>
          <a:prstGeom prst="rect">
            <a:avLst/>
          </a:prstGeom>
        </p:spPr>
      </p:pic>
      <p:grpSp>
        <p:nvGrpSpPr>
          <p:cNvPr id="17" name="Group 16">
            <a:extLst>
              <a:ext uri="{FF2B5EF4-FFF2-40B4-BE49-F238E27FC236}">
                <a16:creationId xmlns:a16="http://schemas.microsoft.com/office/drawing/2014/main" id="{A4672714-67D2-40D0-B961-A7438FE9C9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0"/>
            <a:ext cx="7724071" cy="6858000"/>
            <a:chOff x="4464881" y="0"/>
            <a:chExt cx="7724071" cy="6858000"/>
          </a:xfrm>
        </p:grpSpPr>
        <p:pic>
          <p:nvPicPr>
            <p:cNvPr id="18" name="Picture 17">
              <a:extLst>
                <a:ext uri="{FF2B5EF4-FFF2-40B4-BE49-F238E27FC236}">
                  <a16:creationId xmlns:a16="http://schemas.microsoft.com/office/drawing/2014/main" id="{A5A1C471-1402-4BD1-8617-F5D9B7EB198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2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19" name="Picture 18">
              <a:extLst>
                <a:ext uri="{FF2B5EF4-FFF2-40B4-BE49-F238E27FC236}">
                  <a16:creationId xmlns:a16="http://schemas.microsoft.com/office/drawing/2014/main" id="{6CCA9701-8B9C-4D7A-AE5B-DD505C96800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10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5" name="Title 4">
            <a:extLst>
              <a:ext uri="{FF2B5EF4-FFF2-40B4-BE49-F238E27FC236}">
                <a16:creationId xmlns:a16="http://schemas.microsoft.com/office/drawing/2014/main" id="{760A61E1-D5C3-1442-B857-F7BBA1CCE62D}"/>
              </a:ext>
            </a:extLst>
          </p:cNvPr>
          <p:cNvSpPr>
            <a:spLocks noGrp="1"/>
          </p:cNvSpPr>
          <p:nvPr>
            <p:ph type="title"/>
          </p:nvPr>
        </p:nvSpPr>
        <p:spPr>
          <a:xfrm>
            <a:off x="1198180" y="726067"/>
            <a:ext cx="9774619" cy="716972"/>
          </a:xfrm>
        </p:spPr>
        <p:txBody>
          <a:bodyPr anchor="b">
            <a:normAutofit fontScale="90000"/>
          </a:bodyPr>
          <a:lstStyle/>
          <a:p>
            <a:pPr algn="ctr"/>
            <a:r>
              <a:rPr lang="en-US" dirty="0">
                <a:solidFill>
                  <a:srgbClr val="FFFFFF"/>
                </a:solidFill>
              </a:rPr>
              <a:t>Topic 4</a:t>
            </a:r>
          </a:p>
        </p:txBody>
      </p:sp>
      <p:sp>
        <p:nvSpPr>
          <p:cNvPr id="6" name="Content Placeholder 5">
            <a:extLst>
              <a:ext uri="{FF2B5EF4-FFF2-40B4-BE49-F238E27FC236}">
                <a16:creationId xmlns:a16="http://schemas.microsoft.com/office/drawing/2014/main" id="{EDFD8BAC-CAA4-774A-B80B-AC9CE1FB2463}"/>
              </a:ext>
            </a:extLst>
          </p:cNvPr>
          <p:cNvSpPr>
            <a:spLocks noGrp="1"/>
          </p:cNvSpPr>
          <p:nvPr>
            <p:ph idx="1"/>
          </p:nvPr>
        </p:nvSpPr>
        <p:spPr>
          <a:xfrm>
            <a:off x="220866" y="1595282"/>
            <a:ext cx="3712562" cy="4431719"/>
          </a:xfrm>
        </p:spPr>
        <p:txBody>
          <a:bodyPr anchor="ctr">
            <a:normAutofit/>
          </a:bodyPr>
          <a:lstStyle/>
          <a:p>
            <a:pPr marL="342900"/>
            <a:r>
              <a:rPr lang="en-US" sz="1800" dirty="0">
                <a:solidFill>
                  <a:schemeClr val="bg1"/>
                </a:solidFill>
              </a:rPr>
              <a:t>9.9% of tokens were used in topic 4.</a:t>
            </a:r>
          </a:p>
          <a:p>
            <a:pPr marL="342900"/>
            <a:r>
              <a:rPr lang="en-US" sz="1800" dirty="0">
                <a:solidFill>
                  <a:schemeClr val="bg1"/>
                </a:solidFill>
              </a:rPr>
              <a:t>Russian, ukranian, time, much, first, pay, still, little, start, enough.</a:t>
            </a:r>
          </a:p>
          <a:p>
            <a:pPr marL="342900"/>
            <a:r>
              <a:rPr lang="en-US" sz="1800" dirty="0">
                <a:solidFill>
                  <a:schemeClr val="bg1"/>
                </a:solidFill>
              </a:rPr>
              <a:t>These were the most used words in topic 4.</a:t>
            </a:r>
          </a:p>
          <a:p>
            <a:pPr marL="342900" indent="-342900">
              <a:buAutoNum type="arabicPeriod"/>
            </a:pPr>
            <a:endParaRPr lang="en-US" sz="1800" dirty="0">
              <a:solidFill>
                <a:srgbClr val="FFFFFF"/>
              </a:solidFill>
            </a:endParaRPr>
          </a:p>
        </p:txBody>
      </p:sp>
      <p:pic>
        <p:nvPicPr>
          <p:cNvPr id="13" name="Content Placeholder 8" descr="Chart, bubble chart&#10;&#10;Description automatically generated">
            <a:extLst>
              <a:ext uri="{FF2B5EF4-FFF2-40B4-BE49-F238E27FC236}">
                <a16:creationId xmlns:a16="http://schemas.microsoft.com/office/drawing/2014/main" id="{54D71BBA-1419-DC44-80D8-27EE16AB99FD}"/>
              </a:ext>
            </a:extLst>
          </p:cNvPr>
          <p:cNvPicPr>
            <a:picLocks noChangeAspect="1"/>
          </p:cNvPicPr>
          <p:nvPr/>
        </p:nvPicPr>
        <p:blipFill>
          <a:blip r:embed="rId5"/>
          <a:stretch>
            <a:fillRect/>
          </a:stretch>
        </p:blipFill>
        <p:spPr>
          <a:xfrm>
            <a:off x="3933428" y="1762392"/>
            <a:ext cx="8246527" cy="4097498"/>
          </a:xfrm>
          <a:prstGeom prst="rect">
            <a:avLst/>
          </a:prstGeom>
        </p:spPr>
      </p:pic>
    </p:spTree>
    <p:extLst>
      <p:ext uri="{BB962C8B-B14F-4D97-AF65-F5344CB8AC3E}">
        <p14:creationId xmlns:p14="http://schemas.microsoft.com/office/powerpoint/2010/main" val="19010287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12">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4">
            <a:extLst>
              <a:ext uri="{FF2B5EF4-FFF2-40B4-BE49-F238E27FC236}">
                <a16:creationId xmlns:a16="http://schemas.microsoft.com/office/drawing/2014/main" id="{A905C581-3E86-4ADD-9EDD-5FA87B461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6"/>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D3127BE9-69CD-D748-A030-B172939CB9D3}"/>
              </a:ext>
            </a:extLst>
          </p:cNvPr>
          <p:cNvPicPr>
            <a:picLocks noChangeAspect="1"/>
          </p:cNvPicPr>
          <p:nvPr/>
        </p:nvPicPr>
        <p:blipFill rotWithShape="1">
          <a:blip r:embed="rId2">
            <a:alphaModFix amt="60000"/>
          </a:blip>
          <a:srcRect r="-1" b="6244"/>
          <a:stretch/>
        </p:blipFill>
        <p:spPr>
          <a:xfrm>
            <a:off x="20" y="1386"/>
            <a:ext cx="12188932" cy="6856614"/>
          </a:xfrm>
          <a:prstGeom prst="rect">
            <a:avLst/>
          </a:prstGeom>
        </p:spPr>
      </p:pic>
      <p:grpSp>
        <p:nvGrpSpPr>
          <p:cNvPr id="17" name="Group 16">
            <a:extLst>
              <a:ext uri="{FF2B5EF4-FFF2-40B4-BE49-F238E27FC236}">
                <a16:creationId xmlns:a16="http://schemas.microsoft.com/office/drawing/2014/main" id="{A4672714-67D2-40D0-B961-A7438FE9C9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0"/>
            <a:ext cx="7724071" cy="6858000"/>
            <a:chOff x="4464881" y="0"/>
            <a:chExt cx="7724071" cy="6858000"/>
          </a:xfrm>
        </p:grpSpPr>
        <p:pic>
          <p:nvPicPr>
            <p:cNvPr id="18" name="Picture 17">
              <a:extLst>
                <a:ext uri="{FF2B5EF4-FFF2-40B4-BE49-F238E27FC236}">
                  <a16:creationId xmlns:a16="http://schemas.microsoft.com/office/drawing/2014/main" id="{A5A1C471-1402-4BD1-8617-F5D9B7EB198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2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19" name="Picture 18">
              <a:extLst>
                <a:ext uri="{FF2B5EF4-FFF2-40B4-BE49-F238E27FC236}">
                  <a16:creationId xmlns:a16="http://schemas.microsoft.com/office/drawing/2014/main" id="{6CCA9701-8B9C-4D7A-AE5B-DD505C96800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10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5" name="Title 4">
            <a:extLst>
              <a:ext uri="{FF2B5EF4-FFF2-40B4-BE49-F238E27FC236}">
                <a16:creationId xmlns:a16="http://schemas.microsoft.com/office/drawing/2014/main" id="{760A61E1-D5C3-1442-B857-F7BBA1CCE62D}"/>
              </a:ext>
            </a:extLst>
          </p:cNvPr>
          <p:cNvSpPr>
            <a:spLocks noGrp="1"/>
          </p:cNvSpPr>
          <p:nvPr>
            <p:ph type="title"/>
          </p:nvPr>
        </p:nvSpPr>
        <p:spPr>
          <a:xfrm>
            <a:off x="1198180" y="726067"/>
            <a:ext cx="9774619" cy="716972"/>
          </a:xfrm>
        </p:spPr>
        <p:txBody>
          <a:bodyPr anchor="b">
            <a:normAutofit fontScale="90000"/>
          </a:bodyPr>
          <a:lstStyle/>
          <a:p>
            <a:pPr algn="ctr"/>
            <a:r>
              <a:rPr lang="en-US" dirty="0">
                <a:solidFill>
                  <a:srgbClr val="FFFFFF"/>
                </a:solidFill>
              </a:rPr>
              <a:t>Limitations</a:t>
            </a:r>
          </a:p>
        </p:txBody>
      </p:sp>
      <p:sp>
        <p:nvSpPr>
          <p:cNvPr id="6" name="Content Placeholder 5">
            <a:extLst>
              <a:ext uri="{FF2B5EF4-FFF2-40B4-BE49-F238E27FC236}">
                <a16:creationId xmlns:a16="http://schemas.microsoft.com/office/drawing/2014/main" id="{EDFD8BAC-CAA4-774A-B80B-AC9CE1FB2463}"/>
              </a:ext>
            </a:extLst>
          </p:cNvPr>
          <p:cNvSpPr>
            <a:spLocks noGrp="1"/>
          </p:cNvSpPr>
          <p:nvPr>
            <p:ph idx="1"/>
          </p:nvPr>
        </p:nvSpPr>
        <p:spPr>
          <a:xfrm>
            <a:off x="1219202" y="1700213"/>
            <a:ext cx="9954076" cy="4243387"/>
          </a:xfrm>
        </p:spPr>
        <p:txBody>
          <a:bodyPr anchor="ctr">
            <a:normAutofit/>
          </a:bodyPr>
          <a:lstStyle/>
          <a:p>
            <a:r>
              <a:rPr lang="en-US" sz="1800" dirty="0">
                <a:solidFill>
                  <a:srgbClr val="FFFFFF"/>
                </a:solidFill>
              </a:rPr>
              <a:t> </a:t>
            </a:r>
            <a:r>
              <a:rPr lang="en-US" sz="2000" dirty="0">
                <a:solidFill>
                  <a:srgbClr val="FFFFFF"/>
                </a:solidFill>
              </a:rPr>
              <a:t>Less number of understandable tweets.</a:t>
            </a:r>
          </a:p>
          <a:p>
            <a:r>
              <a:rPr lang="en-US" sz="2000" dirty="0">
                <a:solidFill>
                  <a:srgbClr val="FFFFFF"/>
                </a:solidFill>
              </a:rPr>
              <a:t>Constrained coding skills.</a:t>
            </a:r>
          </a:p>
          <a:p>
            <a:r>
              <a:rPr lang="en-US" sz="2000" dirty="0">
                <a:solidFill>
                  <a:srgbClr val="FFFFFF"/>
                </a:solidFill>
              </a:rPr>
              <a:t>Limited availability of  relevant data.</a:t>
            </a:r>
          </a:p>
          <a:p>
            <a:endParaRPr lang="en-US" sz="1800" dirty="0">
              <a:solidFill>
                <a:srgbClr val="FFFFFF"/>
              </a:solidFill>
            </a:endParaRPr>
          </a:p>
          <a:p>
            <a:endParaRPr lang="en-US" sz="1800" dirty="0">
              <a:solidFill>
                <a:srgbClr val="FFFFFF"/>
              </a:solidFill>
            </a:endParaRPr>
          </a:p>
        </p:txBody>
      </p:sp>
    </p:spTree>
    <p:extLst>
      <p:ext uri="{BB962C8B-B14F-4D97-AF65-F5344CB8AC3E}">
        <p14:creationId xmlns:p14="http://schemas.microsoft.com/office/powerpoint/2010/main" val="902133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12">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4">
            <a:extLst>
              <a:ext uri="{FF2B5EF4-FFF2-40B4-BE49-F238E27FC236}">
                <a16:creationId xmlns:a16="http://schemas.microsoft.com/office/drawing/2014/main" id="{A905C581-3E86-4ADD-9EDD-5FA87B461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6"/>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D3127BE9-69CD-D748-A030-B172939CB9D3}"/>
              </a:ext>
            </a:extLst>
          </p:cNvPr>
          <p:cNvPicPr>
            <a:picLocks noChangeAspect="1"/>
          </p:cNvPicPr>
          <p:nvPr/>
        </p:nvPicPr>
        <p:blipFill rotWithShape="1">
          <a:blip r:embed="rId2">
            <a:alphaModFix amt="60000"/>
          </a:blip>
          <a:srcRect r="-1" b="6244"/>
          <a:stretch/>
        </p:blipFill>
        <p:spPr>
          <a:xfrm>
            <a:off x="20" y="1386"/>
            <a:ext cx="12188932" cy="6856614"/>
          </a:xfrm>
          <a:prstGeom prst="rect">
            <a:avLst/>
          </a:prstGeom>
        </p:spPr>
      </p:pic>
      <p:grpSp>
        <p:nvGrpSpPr>
          <p:cNvPr id="17" name="Group 16">
            <a:extLst>
              <a:ext uri="{FF2B5EF4-FFF2-40B4-BE49-F238E27FC236}">
                <a16:creationId xmlns:a16="http://schemas.microsoft.com/office/drawing/2014/main" id="{A4672714-67D2-40D0-B961-A7438FE9C9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0"/>
            <a:ext cx="7724071" cy="6858000"/>
            <a:chOff x="4464881" y="0"/>
            <a:chExt cx="7724071" cy="6858000"/>
          </a:xfrm>
        </p:grpSpPr>
        <p:pic>
          <p:nvPicPr>
            <p:cNvPr id="18" name="Picture 17">
              <a:extLst>
                <a:ext uri="{FF2B5EF4-FFF2-40B4-BE49-F238E27FC236}">
                  <a16:creationId xmlns:a16="http://schemas.microsoft.com/office/drawing/2014/main" id="{A5A1C471-1402-4BD1-8617-F5D9B7EB198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2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19" name="Picture 18">
              <a:extLst>
                <a:ext uri="{FF2B5EF4-FFF2-40B4-BE49-F238E27FC236}">
                  <a16:creationId xmlns:a16="http://schemas.microsoft.com/office/drawing/2014/main" id="{6CCA9701-8B9C-4D7A-AE5B-DD505C96800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10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5" name="Title 4">
            <a:extLst>
              <a:ext uri="{FF2B5EF4-FFF2-40B4-BE49-F238E27FC236}">
                <a16:creationId xmlns:a16="http://schemas.microsoft.com/office/drawing/2014/main" id="{760A61E1-D5C3-1442-B857-F7BBA1CCE62D}"/>
              </a:ext>
            </a:extLst>
          </p:cNvPr>
          <p:cNvSpPr>
            <a:spLocks noGrp="1"/>
          </p:cNvSpPr>
          <p:nvPr>
            <p:ph type="title"/>
          </p:nvPr>
        </p:nvSpPr>
        <p:spPr>
          <a:xfrm>
            <a:off x="1198180" y="726067"/>
            <a:ext cx="9774619" cy="716972"/>
          </a:xfrm>
        </p:spPr>
        <p:txBody>
          <a:bodyPr anchor="b">
            <a:normAutofit fontScale="90000"/>
          </a:bodyPr>
          <a:lstStyle/>
          <a:p>
            <a:pPr algn="ctr"/>
            <a:r>
              <a:rPr lang="en-US" dirty="0">
                <a:solidFill>
                  <a:srgbClr val="FFFFFF"/>
                </a:solidFill>
              </a:rPr>
              <a:t>Conclusions</a:t>
            </a:r>
          </a:p>
        </p:txBody>
      </p:sp>
      <p:sp>
        <p:nvSpPr>
          <p:cNvPr id="6" name="Content Placeholder 5">
            <a:extLst>
              <a:ext uri="{FF2B5EF4-FFF2-40B4-BE49-F238E27FC236}">
                <a16:creationId xmlns:a16="http://schemas.microsoft.com/office/drawing/2014/main" id="{EDFD8BAC-CAA4-774A-B80B-AC9CE1FB2463}"/>
              </a:ext>
            </a:extLst>
          </p:cNvPr>
          <p:cNvSpPr>
            <a:spLocks noGrp="1"/>
          </p:cNvSpPr>
          <p:nvPr>
            <p:ph idx="1"/>
          </p:nvPr>
        </p:nvSpPr>
        <p:spPr>
          <a:xfrm>
            <a:off x="1219202" y="1700213"/>
            <a:ext cx="9954076" cy="4243387"/>
          </a:xfrm>
        </p:spPr>
        <p:txBody>
          <a:bodyPr anchor="ctr">
            <a:normAutofit/>
          </a:bodyPr>
          <a:lstStyle/>
          <a:p>
            <a:r>
              <a:rPr lang="en-US" sz="2000" dirty="0">
                <a:solidFill>
                  <a:srgbClr val="FFFFFF"/>
                </a:solidFill>
              </a:rPr>
              <a:t>Among all the topics created, topic 17 has the highest coherence score with 58</a:t>
            </a:r>
          </a:p>
          <a:p>
            <a:r>
              <a:rPr lang="en-US" sz="2000" dirty="0">
                <a:solidFill>
                  <a:srgbClr val="FFFFFF"/>
                </a:solidFill>
              </a:rPr>
              <a:t>After Processing the data, the coherence score is 47.</a:t>
            </a:r>
          </a:p>
          <a:p>
            <a:endParaRPr lang="en-US" sz="2000" dirty="0">
              <a:solidFill>
                <a:srgbClr val="FFFFFF"/>
              </a:solidFill>
            </a:endParaRPr>
          </a:p>
          <a:p>
            <a:pPr algn="ctr"/>
            <a:endParaRPr lang="en-US" sz="1800" dirty="0">
              <a:solidFill>
                <a:srgbClr val="FFFFFF"/>
              </a:solidFill>
            </a:endParaRPr>
          </a:p>
        </p:txBody>
      </p:sp>
    </p:spTree>
    <p:extLst>
      <p:ext uri="{BB962C8B-B14F-4D97-AF65-F5344CB8AC3E}">
        <p14:creationId xmlns:p14="http://schemas.microsoft.com/office/powerpoint/2010/main" val="3502886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12">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4">
            <a:extLst>
              <a:ext uri="{FF2B5EF4-FFF2-40B4-BE49-F238E27FC236}">
                <a16:creationId xmlns:a16="http://schemas.microsoft.com/office/drawing/2014/main" id="{A905C581-3E86-4ADD-9EDD-5FA87B461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6"/>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D3127BE9-69CD-D748-A030-B172939CB9D3}"/>
              </a:ext>
            </a:extLst>
          </p:cNvPr>
          <p:cNvPicPr>
            <a:picLocks noChangeAspect="1"/>
          </p:cNvPicPr>
          <p:nvPr/>
        </p:nvPicPr>
        <p:blipFill rotWithShape="1">
          <a:blip r:embed="rId2">
            <a:alphaModFix amt="60000"/>
          </a:blip>
          <a:srcRect r="-1" b="6244"/>
          <a:stretch/>
        </p:blipFill>
        <p:spPr>
          <a:xfrm>
            <a:off x="20" y="1386"/>
            <a:ext cx="12188932" cy="6856614"/>
          </a:xfrm>
          <a:prstGeom prst="rect">
            <a:avLst/>
          </a:prstGeom>
        </p:spPr>
      </p:pic>
      <p:grpSp>
        <p:nvGrpSpPr>
          <p:cNvPr id="17" name="Group 16">
            <a:extLst>
              <a:ext uri="{FF2B5EF4-FFF2-40B4-BE49-F238E27FC236}">
                <a16:creationId xmlns:a16="http://schemas.microsoft.com/office/drawing/2014/main" id="{A4672714-67D2-40D0-B961-A7438FE9C9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0"/>
            <a:ext cx="7724071" cy="6858000"/>
            <a:chOff x="4464881" y="0"/>
            <a:chExt cx="7724071" cy="6858000"/>
          </a:xfrm>
        </p:grpSpPr>
        <p:pic>
          <p:nvPicPr>
            <p:cNvPr id="18" name="Picture 17">
              <a:extLst>
                <a:ext uri="{FF2B5EF4-FFF2-40B4-BE49-F238E27FC236}">
                  <a16:creationId xmlns:a16="http://schemas.microsoft.com/office/drawing/2014/main" id="{A5A1C471-1402-4BD1-8617-F5D9B7EB198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2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19" name="Picture 18">
              <a:extLst>
                <a:ext uri="{FF2B5EF4-FFF2-40B4-BE49-F238E27FC236}">
                  <a16:creationId xmlns:a16="http://schemas.microsoft.com/office/drawing/2014/main" id="{6CCA9701-8B9C-4D7A-AE5B-DD505C96800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10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5" name="Title 4">
            <a:extLst>
              <a:ext uri="{FF2B5EF4-FFF2-40B4-BE49-F238E27FC236}">
                <a16:creationId xmlns:a16="http://schemas.microsoft.com/office/drawing/2014/main" id="{760A61E1-D5C3-1442-B857-F7BBA1CCE62D}"/>
              </a:ext>
            </a:extLst>
          </p:cNvPr>
          <p:cNvSpPr>
            <a:spLocks noGrp="1"/>
          </p:cNvSpPr>
          <p:nvPr>
            <p:ph type="title"/>
          </p:nvPr>
        </p:nvSpPr>
        <p:spPr>
          <a:xfrm>
            <a:off x="1308930" y="2710652"/>
            <a:ext cx="9774619" cy="716972"/>
          </a:xfrm>
        </p:spPr>
        <p:txBody>
          <a:bodyPr anchor="b">
            <a:normAutofit fontScale="90000"/>
          </a:bodyPr>
          <a:lstStyle/>
          <a:p>
            <a:pPr algn="ctr"/>
            <a:r>
              <a:rPr lang="en-US" dirty="0">
                <a:solidFill>
                  <a:srgbClr val="FFFFFF"/>
                </a:solidFill>
              </a:rPr>
              <a:t>Thank you </a:t>
            </a:r>
          </a:p>
        </p:txBody>
      </p:sp>
      <p:sp>
        <p:nvSpPr>
          <p:cNvPr id="6" name="Content Placeholder 5">
            <a:extLst>
              <a:ext uri="{FF2B5EF4-FFF2-40B4-BE49-F238E27FC236}">
                <a16:creationId xmlns:a16="http://schemas.microsoft.com/office/drawing/2014/main" id="{EDFD8BAC-CAA4-774A-B80B-AC9CE1FB2463}"/>
              </a:ext>
            </a:extLst>
          </p:cNvPr>
          <p:cNvSpPr>
            <a:spLocks noGrp="1"/>
          </p:cNvSpPr>
          <p:nvPr>
            <p:ph idx="1"/>
          </p:nvPr>
        </p:nvSpPr>
        <p:spPr>
          <a:xfrm>
            <a:off x="1219202" y="1700213"/>
            <a:ext cx="9954076" cy="4243387"/>
          </a:xfrm>
        </p:spPr>
        <p:txBody>
          <a:bodyPr anchor="ctr">
            <a:normAutofit/>
          </a:bodyPr>
          <a:lstStyle/>
          <a:p>
            <a:endParaRPr lang="en-US" sz="2000" dirty="0">
              <a:solidFill>
                <a:srgbClr val="FFFFFF"/>
              </a:solidFill>
            </a:endParaRPr>
          </a:p>
          <a:p>
            <a:pPr algn="ctr"/>
            <a:endParaRPr lang="en-US" sz="1800" dirty="0">
              <a:solidFill>
                <a:srgbClr val="FFFFFF"/>
              </a:solidFill>
            </a:endParaRPr>
          </a:p>
        </p:txBody>
      </p:sp>
    </p:spTree>
    <p:extLst>
      <p:ext uri="{BB962C8B-B14F-4D97-AF65-F5344CB8AC3E}">
        <p14:creationId xmlns:p14="http://schemas.microsoft.com/office/powerpoint/2010/main" val="1836373872"/>
      </p:ext>
    </p:extLst>
  </p:cSld>
  <p:clrMapOvr>
    <a:masterClrMapping/>
  </p:clrMapOvr>
</p:sld>
</file>

<file path=ppt/theme/theme1.xml><?xml version="1.0" encoding="utf-8"?>
<a:theme xmlns:a="http://schemas.openxmlformats.org/drawingml/2006/main" name="DappledVTI">
  <a:themeElements>
    <a:clrScheme name="Custom 81">
      <a:dk1>
        <a:sysClr val="windowText" lastClr="000000"/>
      </a:dk1>
      <a:lt1>
        <a:sysClr val="window" lastClr="FFFFFF"/>
      </a:lt1>
      <a:dk2>
        <a:srgbClr val="21363B"/>
      </a:dk2>
      <a:lt2>
        <a:srgbClr val="F4F2F0"/>
      </a:lt2>
      <a:accent1>
        <a:srgbClr val="758468"/>
      </a:accent1>
      <a:accent2>
        <a:srgbClr val="B5A7AC"/>
      </a:accent2>
      <a:accent3>
        <a:srgbClr val="CC9C6F"/>
      </a:accent3>
      <a:accent4>
        <a:srgbClr val="767640"/>
      </a:accent4>
      <a:accent5>
        <a:srgbClr val="A5B295"/>
      </a:accent5>
      <a:accent6>
        <a:srgbClr val="C19DA7"/>
      </a:accent6>
      <a:hlink>
        <a:srgbClr val="D13D6E"/>
      </a:hlink>
      <a:folHlink>
        <a:srgbClr val="6C9D92"/>
      </a:folHlink>
    </a:clrScheme>
    <a:fontScheme name="Custom 67">
      <a:majorFont>
        <a:latin typeface="Sabon Next L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ppledVTI" id="{204FEFAB-F02B-4FE8-B509-C50A618B972D}" vid="{7EAEADA8-5A8E-45B2-B0E4-448EC7E7A94F}"/>
    </a:ext>
  </a:extLst>
</a:theme>
</file>

<file path=docProps/app.xml><?xml version="1.0" encoding="utf-8"?>
<Properties xmlns="http://schemas.openxmlformats.org/officeDocument/2006/extended-properties" xmlns:vt="http://schemas.openxmlformats.org/officeDocument/2006/docPropsVTypes">
  <TotalTime>233</TotalTime>
  <Words>544</Words>
  <Application>Microsoft Macintosh PowerPoint</Application>
  <PresentationFormat>Widescreen</PresentationFormat>
  <Paragraphs>67</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Avenir Next LT Pro</vt:lpstr>
      <vt:lpstr>AvenirNext LT Pro Medium</vt:lpstr>
      <vt:lpstr>Calibri</vt:lpstr>
      <vt:lpstr>Sabon Next LT</vt:lpstr>
      <vt:lpstr>DappledVTI</vt:lpstr>
      <vt:lpstr>Russia v/s Ukraine</vt:lpstr>
      <vt:lpstr>Introduction </vt:lpstr>
      <vt:lpstr>Goal</vt:lpstr>
      <vt:lpstr>Data</vt:lpstr>
      <vt:lpstr>In-degree Analysis</vt:lpstr>
      <vt:lpstr>Out degree analysis</vt:lpstr>
      <vt:lpstr>Betweenness Centrality</vt:lpstr>
      <vt:lpstr>Closeness Centrality</vt:lpstr>
      <vt:lpstr>Eigen Vector Centrality</vt:lpstr>
      <vt:lpstr>Topic Modelling</vt:lpstr>
      <vt:lpstr>Topic 1</vt:lpstr>
      <vt:lpstr>Topic 2</vt:lpstr>
      <vt:lpstr>Coherence score </vt:lpstr>
      <vt:lpstr>Topic 3</vt:lpstr>
      <vt:lpstr>Topic 4</vt:lpstr>
      <vt:lpstr>Limitations</vt:lpstr>
      <vt:lpstr>Conclusions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Russia v/s Ukraine</dc:title>
  <dc:creator>Shailaja Muchintala</dc:creator>
  <cp:lastModifiedBy>Shailaja Muchintala</cp:lastModifiedBy>
  <cp:revision>2</cp:revision>
  <dcterms:created xsi:type="dcterms:W3CDTF">2022-05-13T23:20:00Z</dcterms:created>
  <dcterms:modified xsi:type="dcterms:W3CDTF">2022-05-14T03:13:19Z</dcterms:modified>
</cp:coreProperties>
</file>